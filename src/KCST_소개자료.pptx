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FF094DDE-9FA0-911F-4F40-149F98096D3D}">
          <p14:sldIdLst>
            <p14:sldId id="256"/>
            <p14:sldId id="257"/>
          </p14:sldIdLst>
        </p14:section>
        <p14:section name="설립 배경" id="{25AFF02B-FAD2-2544-130C-A8E840410447}">
          <p14:sldIdLst>
            <p14:sldId id="258"/>
            <p14:sldId id="259"/>
            <p14:sldId id="260"/>
          </p14:sldIdLst>
        </p14:section>
        <p14:section name="정체성과 사업" id="{7754F0B0-C0A0-6897-5A20-3CDD3EDC0E07}">
          <p14:sldIdLst>
            <p14:sldId id="261"/>
            <p14:sldId id="262"/>
            <p14:sldId id="263"/>
            <p14:sldId id="264"/>
          </p14:sldIdLst>
        </p14:section>
        <p14:section name="조직과 운영" id="{22B1B4ED-66F7-D46E-7835-5A70CD4F1532}">
          <p14:sldIdLst>
            <p14:sldId id="265"/>
            <p14:sldId id="266"/>
            <p14:sldId id="267"/>
          </p14:sldIdLst>
        </p14:section>
        <p14:section name="로드맵" id="{A3626829-E6AD-C118-D03E-D8CF756F3C52}">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시간당 강연료</c:v>
                </c:pt>
              </c:strCache>
            </c:strRef>
          </c:tx>
          <c:spPr>
            <a:solidFill>
              <a:srgbClr val="FF2D6F"/>
            </a:solidFill>
            <a:effectLst/>
          </c:spPr>
          <c:invertIfNegative val="0"/>
          <c:dPt>
            <c:idx val="0"/>
            <c:invertIfNegative val="0"/>
            <c:bubble3D val="0"/>
            <c:extLst>
              <c:ext xmlns:c16="http://schemas.microsoft.com/office/drawing/2014/chart" uri="{C3380CC4-5D6E-409C-BE32-E72D297353CC}">
                <c16:uniqueId val="{00000001-D378-4969-960C-48117903FBCA}"/>
              </c:ext>
            </c:extLst>
          </c:dPt>
          <c:dPt>
            <c:idx val="1"/>
            <c:invertIfNegative val="0"/>
            <c:bubble3D val="0"/>
            <c:spPr>
              <a:solidFill>
                <a:srgbClr val="5B7C99"/>
              </a:solidFill>
              <a:effectLst/>
            </c:spPr>
            <c:extLst>
              <c:ext xmlns:c16="http://schemas.microsoft.com/office/drawing/2014/chart" uri="{C3380CC4-5D6E-409C-BE32-E72D297353CC}">
                <c16:uniqueId val="{00000003-D378-4969-960C-48117903FBCA}"/>
              </c:ext>
            </c:extLst>
          </c:dPt>
          <c:dPt>
            <c:idx val="2"/>
            <c:invertIfNegative val="0"/>
            <c:bubble3D val="0"/>
            <c:spPr>
              <a:solidFill>
                <a:srgbClr val="33475F"/>
              </a:solidFill>
              <a:effectLst/>
            </c:spPr>
            <c:extLst>
              <c:ext xmlns:c16="http://schemas.microsoft.com/office/drawing/2014/chart" uri="{C3380CC4-5D6E-409C-BE32-E72D297353CC}">
                <c16:uniqueId val="{00000005-D378-4969-960C-48117903FBCA}"/>
              </c:ext>
            </c:extLst>
          </c:dPt>
          <c:dLbls>
            <c:numFmt formatCode="0&quot;만 원&quot;" sourceLinked="0"/>
            <c:spPr>
              <a:noFill/>
              <a:ln>
                <a:noFill/>
              </a:ln>
              <a:effectLst/>
            </c:spPr>
            <c:txPr>
              <a:bodyPr/>
              <a:lstStyle/>
              <a:p>
                <a:pPr>
                  <a:defRPr sz="1600" b="1" i="0" u="none" strike="noStrike">
                    <a:solidFill>
                      <a:srgbClr val="0F1A2B"/>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박사급 과학자</c:v>
                </c:pt>
                <c:pt idx="1">
                  <c:v>교양서적 저자</c:v>
                </c:pt>
                <c:pt idx="2">
                  <c:v>방송 출연 셀럽</c:v>
                </c:pt>
              </c:strCache>
            </c:strRef>
          </c:cat>
          <c:val>
            <c:numRef>
              <c:f>Sheet1!$B$2:$B$4</c:f>
              <c:numCache>
                <c:formatCode>General</c:formatCode>
                <c:ptCount val="3"/>
                <c:pt idx="0">
                  <c:v>15</c:v>
                </c:pt>
                <c:pt idx="1">
                  <c:v>30</c:v>
                </c:pt>
                <c:pt idx="2">
                  <c:v>50</c:v>
                </c:pt>
              </c:numCache>
            </c:numRef>
          </c:val>
          <c:extLst>
            <c:ext xmlns:c16="http://schemas.microsoft.com/office/drawing/2014/chart" uri="{C3380CC4-5D6E-409C-BE32-E72D297353CC}">
              <c16:uniqueId val="{00000006-D378-4969-960C-48117903FBCA}"/>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3475F"/>
                </a:solidFill>
                <a:latin typeface="+mn-lt"/>
              </a:defRPr>
            </a:pPr>
            <a:endParaRPr lang="en-US"/>
          </a:p>
        </c:txPr>
        <c:crossAx val="2094734552"/>
        <c:crosses val="autoZero"/>
        <c:auto val="1"/>
        <c:lblAlgn val="ctr"/>
        <c:lblOffset val="100"/>
        <c:noMultiLvlLbl val="1"/>
      </c:catAx>
      <c:valAx>
        <c:axId val="2094734552"/>
        <c:scaling>
          <c:orientation val="minMax"/>
          <c:max val="6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720439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KCST(한국과학기술문화소통학회) 소개 발표를 시작합니다. 학회의 출범 배경, 정체성과 사업, 조직과 운영, 그리고 2026년 창립대회와 2031 세계대회 유치 로드맵 순으로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KCST는 2026년 5월 15일 총회를 거쳐 출범했습니다. 2008년 50여 개 단체가 뜻을 모아 만든 한국과학문화교육단체연합의 노하우와 인적 네트워크를 계승했고, PCST Network 최초의 아시아인 회장을 지낸 조숙경 교수가 초대 회장입니다.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최근 과학소통은 양적으로 폭발적으로 성장했습니다. 그러나 그 이면에는 학술적 기반 부재라는 구조적 빈칸이 있습니다. KCST는 이 빈칸을 메우는 통합 플랫폼을 지향합니다.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설립 배경은 다섯 가지 과제로 정리됩니다. ①팩트와 임팩트의 괴리 ②과학자의 아마추어리즘과 부당한 처우 ③은퇴 과학기술인 플랫폼 부재 ④출연연·과학관·민간 중심 한국형 과학자본의 한계 ⑤PCST 2031 유치를 위한 국내 단일 거점의 필요성.</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제1회 라운드톡(2026.8.10, 대전 카페 쿠아)에서 연구자의 87%가 소통 필요성에 동의하나 실제 참여는 절반 수준이라는 발제가 있었습니다. 또한 박사급 과학자의 강연료가 시간당 15만 원 수준인 데 비해 교양서적 저자는 30만 원, 방송 출연 셀럽은 50~100만 원 이상으로 책정되는 역차별이 지적되었습니다.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정관 제1조의 목적을 요약하면 연구·학술, 소통·교육·인증, 그리고 연결·대변의 세 기둥입니다.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보도자료에서 밝힌 핵심 사업 방향 네 가지입니다. 팩트와 임팩트의 협력, 첨단기술 공론화, 세대 간 연결, 한국형 과학자본 모델 창출입니다.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정기 학술대회는 한국 과학문화 생태계의 모든 주체가 참여하는 6개 세션으로 구성됩니다. 특히 열린 세션은 회원이 아닌 일반 시민에게도 문턱을 낮춥니다.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정관 제4조가 정한 사업 가운데 핵심 사업입니다. 정기 학술대회, 학술지 발간, 교육·인증제, 전문인력 양성, 수탁연구와 정책 자문, 국내외 교류로 요약됩니다.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총회가 최상위 의결기구이고, 이사회가 전략과 승인을, 운영위원회가 상설 실무를 맡습니다. 특별위원회는 기념사업·학술지 등재처럼 목적이 분명한 한시 사업을 위해 신설합니다. 자문단은 고문·자문위원·연구위원으로 구성됩니다.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운영위원회는 총무·학술·편집·사업·대외협력·홍보의 6개 분과입니다. 권위적 이미지의 ‘간사’ 대신 ‘운영위원’이라 부릅니다. 편집 분과는 학술지가 발행되기 전부터 동등한 비중으로 배정했습니다.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운영위원회가 기획·실행하고, 이사회가 승인·결정하며, 자문단이 2주 이내에 공유받아 피드백하는 구조입니다. 매년 10~11월경 정기 총회와 학술대회를 중심으로 순환합니다.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창립대회는 11월 17일과 18일 이틀간 열립니다. 17일에는 PCST Network Asia 멤버를 초청해 아시아 과학소통의 현황과 방향을 토론하고, 18일에는 학회 구성원 모두가 참여하는 심포지엄과 총회를 엽니다. 참여국과 세부 프로그램은 확정되는 대로 업데이트가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2026년은 활동 실적을 쌓는 해입니다. 5월 출범, 8월 라운드톡, 11월 창립대회를 거쳐 2027년 후보지 등록과 정기 학술대회·학술지를 본격화하고, 2031년 PCST Network 세계대회의 한국 유치를 목표로 합니다.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KCST는 현장 활동가, 연구자, 학생, 단체가 함께 만드는 학회입니다. 정회원·학생회원·단체회원으로 참여할 수 있으며, 가입은 입회원서 제출 후 운영위원회 승인으로 이루어집니다.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822960" y="2011680"/>
            <a:ext cx="566928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66928"/>
            <a:ext cx="11094415" cy="73152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19088"/>
            <a:ext cx="4572000" cy="274320"/>
          </a:xfrm>
          <a:prstGeom prst="rect">
            <a:avLst/>
          </a:prstGeom>
          <a:noFill/>
          <a:ln/>
        </p:spPr>
        <p:txBody>
          <a:bodyPr wrap="square" lIns="0" tIns="0" rIns="0" bIns="0" rtlCol="0" anchor="ctr"/>
          <a:lstStyle/>
          <a:p>
            <a:pPr marL="0" indent="0">
              <a:buNone/>
            </a:pPr>
            <a:r>
              <a:rPr lang="en-US" sz="1000" dirty="0">
                <a:solidFill>
                  <a:srgbClr val="5B7C99"/>
                </a:solidFill>
              </a:rPr>
              <a:t>KCST · 한국과학기술문화소통학회</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a:spLocks noGrp="1"/>
          </p:cNvSpPr>
          <p:nvPr>
            <p:ph type="title" idx="101" hasCustomPrompt="1"/>
          </p:nvPr>
        </p:nvSpPr>
        <p:spPr>
          <a:xfrm>
            <a:off x="548640" y="1051560"/>
            <a:ext cx="5760720" cy="21031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1"/>
          <p:cNvSpPr/>
          <p:nvPr/>
        </p:nvSpPr>
        <p:spPr>
          <a:xfrm>
            <a:off x="548640" y="6419088"/>
            <a:ext cx="4572000" cy="274320"/>
          </a:xfrm>
          <a:prstGeom prst="rect">
            <a:avLst/>
          </a:prstGeom>
          <a:noFill/>
          <a:ln/>
        </p:spPr>
        <p:txBody>
          <a:bodyPr wrap="square" lIns="0" tIns="0" rIns="0" bIns="0" rtlCol="0" anchor="ctr"/>
          <a:lstStyle/>
          <a:p>
            <a:pPr marL="0" indent="0">
              <a:buNone/>
            </a:pPr>
            <a:r>
              <a:rPr lang="en-US" sz="1000" dirty="0">
                <a:solidFill>
                  <a:srgbClr val="9FB3C8"/>
                </a:solidFill>
              </a:rPr>
              <a:t>KCST · 한국과학기술문화소통학회</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장식 링 1"/>
          <p:cNvSpPr/>
          <p:nvPr/>
        </p:nvSpPr>
        <p:spPr>
          <a:xfrm>
            <a:off x="6309360" y="594360"/>
            <a:ext cx="5669280" cy="5669280"/>
          </a:xfrm>
          <a:prstGeom prst="ellipse">
            <a:avLst/>
          </a:prstGeom>
          <a:solidFill>
            <a:srgbClr val="0F1A2B"/>
          </a:solidFill>
          <a:ln w="25400">
            <a:solidFill>
              <a:srgbClr val="17283F"/>
            </a:solidFill>
            <a:prstDash val="solid"/>
          </a:ln>
        </p:spPr>
      </p:sp>
      <p:sp>
        <p:nvSpPr>
          <p:cNvPr id="3" name="장식 링 2"/>
          <p:cNvSpPr/>
          <p:nvPr/>
        </p:nvSpPr>
        <p:spPr>
          <a:xfrm>
            <a:off x="6903720" y="1188720"/>
            <a:ext cx="4480560" cy="4480560"/>
          </a:xfrm>
          <a:prstGeom prst="ellipse">
            <a:avLst/>
          </a:prstGeom>
          <a:solidFill>
            <a:srgbClr val="0F1A2B"/>
          </a:solidFill>
          <a:ln w="25400">
            <a:solidFill>
              <a:srgbClr val="163B4A"/>
            </a:solidFill>
            <a:prstDash val="solid"/>
          </a:ln>
        </p:spPr>
      </p:sp>
      <p:sp>
        <p:nvSpPr>
          <p:cNvPr id="4" name="장식 링 3"/>
          <p:cNvSpPr/>
          <p:nvPr/>
        </p:nvSpPr>
        <p:spPr>
          <a:xfrm>
            <a:off x="7452360" y="1737360"/>
            <a:ext cx="3383280" cy="3383280"/>
          </a:xfrm>
          <a:prstGeom prst="ellipse">
            <a:avLst/>
          </a:prstGeom>
          <a:solidFill>
            <a:srgbClr val="0F1A2B"/>
          </a:solidFill>
          <a:ln w="25400">
            <a:solidFill>
              <a:srgbClr val="11544F"/>
            </a:solidFill>
            <a:prstDash val="solid"/>
          </a:ln>
        </p:spPr>
      </p:sp>
      <p:sp>
        <p:nvSpPr>
          <p:cNvPr id="5" name="로고 원"/>
          <p:cNvSpPr/>
          <p:nvPr/>
        </p:nvSpPr>
        <p:spPr>
          <a:xfrm>
            <a:off x="8092440" y="2377440"/>
            <a:ext cx="2103120" cy="2103120"/>
          </a:xfrm>
          <a:prstGeom prst="ellipse">
            <a:avLst/>
          </a:prstGeom>
          <a:solidFill>
            <a:schemeClr val="accent1"/>
          </a:solidFill>
          <a:ln/>
        </p:spPr>
      </p:sp>
      <p:sp>
        <p:nvSpPr>
          <p:cNvPr id="6" name="KCST 로고 텍스트"/>
          <p:cNvSpPr txBox="1"/>
          <p:nvPr/>
        </p:nvSpPr>
        <p:spPr>
          <a:xfrm>
            <a:off x="8092440" y="3063240"/>
            <a:ext cx="2103120" cy="731520"/>
          </a:xfrm>
          <a:prstGeom prst="rect">
            <a:avLst/>
          </a:prstGeom>
          <a:noFill/>
          <a:ln/>
        </p:spPr>
        <p:txBody>
          <a:bodyPr wrap="square" lIns="0" tIns="0" rIns="0" bIns="0" rtlCol="0" anchor="ctr"/>
          <a:lstStyle/>
          <a:p>
            <a:pPr marL="0" indent="0" algn="ctr">
              <a:buNone/>
            </a:pPr>
            <a:r>
              <a:rPr lang="en-US" sz="3600" b="1" dirty="0">
                <a:solidFill>
                  <a:schemeClr val="bg1"/>
                </a:solidFill>
              </a:rPr>
              <a:t>KCST</a:t>
            </a:r>
            <a:endParaRPr lang="en-US" sz="3600" dirty="0"/>
          </a:p>
        </p:txBody>
      </p:sp>
      <p:sp>
        <p:nvSpPr>
          <p:cNvPr id="7" name="키커"/>
          <p:cNvSpPr txBox="1"/>
          <p:nvPr/>
        </p:nvSpPr>
        <p:spPr>
          <a:xfrm>
            <a:off x="822960" y="1371600"/>
            <a:ext cx="5486400" cy="320040"/>
          </a:xfrm>
          <a:prstGeom prst="rect">
            <a:avLst/>
          </a:prstGeom>
          <a:noFill/>
          <a:ln/>
        </p:spPr>
        <p:txBody>
          <a:bodyPr wrap="square" lIns="0" tIns="0" rIns="0" bIns="0" rtlCol="0" anchor="t"/>
          <a:lstStyle/>
          <a:p>
            <a:pPr marL="0" indent="0">
              <a:buNone/>
            </a:pPr>
            <a:r>
              <a:rPr lang="en-US" sz="1400" b="1" kern="0" spc="300" dirty="0">
                <a:solidFill>
                  <a:schemeClr val="accent5"/>
                </a:solidFill>
              </a:rPr>
              <a:t>2026 FOUNDING · 사단법인</a:t>
            </a:r>
            <a:endParaRPr lang="en-US" sz="1400" dirty="0"/>
          </a:p>
        </p:txBody>
      </p:sp>
      <p:sp>
        <p:nvSpPr>
          <p:cNvPr id="8" name="Text 1"/>
          <p:cNvSpPr>
            <a:spLocks noGrp="1"/>
          </p:cNvSpPr>
          <p:nvPr>
            <p:ph type="title" idx="101" hasCustomPrompt="1"/>
          </p:nvPr>
        </p:nvSpPr>
        <p:spPr>
          <a:xfrm>
            <a:off x="822960" y="2011680"/>
            <a:ext cx="5669280" cy="1737360"/>
          </a:xfrm>
          <a:prstGeom prst="rect">
            <a:avLst/>
          </a:prstGeom>
          <a:noFill/>
          <a:ln/>
        </p:spPr>
        <p:txBody>
          <a:bodyPr wrap="square" lIns="0" tIns="0" rIns="0" bIns="0" rtlCol="0" anchor="t"/>
          <a:lstStyle/>
          <a:p>
            <a:pPr marL="0" indent="0" algn="l">
              <a:buNone/>
            </a:pPr>
            <a:r>
              <a:rPr lang="en-US" sz="4400" b="1" dirty="0">
                <a:solidFill>
                  <a:schemeClr val="bg1"/>
                </a:solidFill>
              </a:rPr>
              <a:t>한국과학기술문화</a:t>
            </a:r>
            <a:endParaRPr lang="en-US" sz="4400" dirty="0"/>
          </a:p>
          <a:p>
            <a:pPr marL="0" indent="0" algn="l">
              <a:buNone/>
            </a:pPr>
            <a:r>
              <a:rPr lang="en-US" sz="4400" b="1" dirty="0">
                <a:solidFill>
                  <a:schemeClr val="bg1"/>
                </a:solidFill>
              </a:rPr>
              <a:t>소통학회</a:t>
            </a:r>
            <a:endParaRPr lang="en-US" sz="4400" dirty="0"/>
          </a:p>
        </p:txBody>
      </p:sp>
      <p:sp>
        <p:nvSpPr>
          <p:cNvPr id="9" name="슬로건"/>
          <p:cNvSpPr txBox="1"/>
          <p:nvPr/>
        </p:nvSpPr>
        <p:spPr>
          <a:xfrm>
            <a:off x="822960" y="4023360"/>
            <a:ext cx="5486400" cy="1005840"/>
          </a:xfrm>
          <a:prstGeom prst="rect">
            <a:avLst/>
          </a:prstGeom>
          <a:noFill/>
          <a:ln/>
        </p:spPr>
        <p:txBody>
          <a:bodyPr wrap="square" lIns="0" tIns="0" rIns="0" bIns="0" rtlCol="0" anchor="t"/>
          <a:lstStyle/>
          <a:p>
            <a:pPr marL="0" indent="0">
              <a:buNone/>
            </a:pPr>
            <a:r>
              <a:rPr lang="en-US" sz="2400" dirty="0">
                <a:solidFill>
                  <a:schemeClr val="accent6"/>
                </a:solidFill>
              </a:rPr>
              <a:t>과학소통에 학술의 깊이를,</a:t>
            </a:r>
            <a:endParaRPr lang="en-US" sz="2400" dirty="0"/>
          </a:p>
          <a:p>
            <a:pPr marL="0" indent="0">
              <a:buNone/>
            </a:pPr>
            <a:r>
              <a:rPr lang="en-US" sz="2400" dirty="0">
                <a:solidFill>
                  <a:schemeClr val="accent6"/>
                </a:solidFill>
              </a:rPr>
              <a:t>한국에서 세계로</a:t>
            </a:r>
            <a:endParaRPr lang="en-US" sz="2400" dirty="0"/>
          </a:p>
        </p:txBody>
      </p:sp>
      <p:sp>
        <p:nvSpPr>
          <p:cNvPr id="10" name="영문명"/>
          <p:cNvSpPr txBox="1"/>
          <p:nvPr/>
        </p:nvSpPr>
        <p:spPr>
          <a:xfrm>
            <a:off x="822960" y="5669280"/>
            <a:ext cx="5669280" cy="548640"/>
          </a:xfrm>
          <a:prstGeom prst="rect">
            <a:avLst/>
          </a:prstGeom>
          <a:noFill/>
          <a:ln/>
        </p:spPr>
        <p:txBody>
          <a:bodyPr wrap="square" lIns="0" tIns="0" rIns="0" bIns="0" rtlCol="0" anchor="t"/>
          <a:lstStyle/>
          <a:p>
            <a:pPr marL="0" indent="0">
              <a:buNone/>
            </a:pPr>
            <a:r>
              <a:rPr lang="en-US" sz="1200" dirty="0">
                <a:solidFill>
                  <a:schemeClr val="accent6"/>
                </a:solidFill>
              </a:rPr>
              <a:t>The Korean Society for the Public Communication of Science and Technology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KCST AT A GLANCE</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한눈에 보는 KCST</a:t>
            </a:r>
            <a:endParaRPr lang="en-US" sz="3200" dirty="0"/>
          </a:p>
        </p:txBody>
      </p:sp>
      <p:sp>
        <p:nvSpPr>
          <p:cNvPr id="4" name="한 줄 소개"/>
          <p:cNvSpPr txBox="1"/>
          <p:nvPr/>
        </p:nvSpPr>
        <p:spPr>
          <a:xfrm>
            <a:off x="548640" y="1463040"/>
            <a:ext cx="11094415" cy="777240"/>
          </a:xfrm>
          <a:prstGeom prst="rect">
            <a:avLst/>
          </a:prstGeom>
          <a:noFill/>
          <a:ln/>
        </p:spPr>
        <p:txBody>
          <a:bodyPr wrap="square" lIns="0" tIns="0" rIns="0" bIns="0" rtlCol="0" anchor="t"/>
          <a:lstStyle/>
          <a:p>
            <a:pPr marL="0" indent="0">
              <a:buNone/>
            </a:pPr>
            <a:r>
              <a:rPr lang="en-US" sz="1800" dirty="0">
                <a:solidFill>
                  <a:schemeClr val="tx2"/>
                </a:solidFill>
              </a:rPr>
              <a:t>과학기술과 사회의 상호작용을 연구하고, 과학소통·교육과 전문인력 양성을 통해 국민의 과학적 소양을 높이는 학술단체입니다.</a:t>
            </a:r>
            <a:endParaRPr lang="en-US" sz="1800" dirty="0"/>
          </a:p>
        </p:txBody>
      </p:sp>
      <p:sp>
        <p:nvSpPr>
          <p:cNvPr id="5" name="통계 카드 1"/>
          <p:cNvSpPr/>
          <p:nvPr/>
        </p:nvSpPr>
        <p:spPr>
          <a:xfrm>
            <a:off x="548640" y="2377440"/>
            <a:ext cx="3520440" cy="2331720"/>
          </a:xfrm>
          <a:prstGeom prst="roundRect">
            <a:avLst>
              <a:gd name="adj" fmla="val 4706"/>
            </a:avLst>
          </a:prstGeom>
          <a:solidFill>
            <a:schemeClr val="bg2"/>
          </a:solidFill>
          <a:ln/>
        </p:spPr>
      </p:sp>
      <p:sp>
        <p:nvSpPr>
          <p:cNvPr id="6" name="큰 숫자 2026"/>
          <p:cNvSpPr txBox="1"/>
          <p:nvPr/>
        </p:nvSpPr>
        <p:spPr>
          <a:xfrm>
            <a:off x="822960" y="2560320"/>
            <a:ext cx="3017520" cy="868680"/>
          </a:xfrm>
          <a:prstGeom prst="rect">
            <a:avLst/>
          </a:prstGeom>
          <a:noFill/>
          <a:ln/>
        </p:spPr>
        <p:txBody>
          <a:bodyPr wrap="square" lIns="0" tIns="0" rIns="0" bIns="0" rtlCol="0" anchor="t"/>
          <a:lstStyle/>
          <a:p>
            <a:pPr marL="0" indent="0">
              <a:buNone/>
            </a:pPr>
            <a:r>
              <a:rPr lang="en-US" sz="5200" b="1" dirty="0">
                <a:solidFill>
                  <a:schemeClr val="accent1"/>
                </a:solidFill>
              </a:rPr>
              <a:t>2026</a:t>
            </a:r>
            <a:endParaRPr lang="en-US" sz="5200" dirty="0"/>
          </a:p>
        </p:txBody>
      </p:sp>
      <p:sp>
        <p:nvSpPr>
          <p:cNvPr id="7" name="라벨"/>
          <p:cNvSpPr txBox="1"/>
          <p:nvPr/>
        </p:nvSpPr>
        <p:spPr>
          <a:xfrm>
            <a:off x="822960" y="3474720"/>
            <a:ext cx="3017520" cy="320040"/>
          </a:xfrm>
          <a:prstGeom prst="rect">
            <a:avLst/>
          </a:prstGeom>
          <a:noFill/>
          <a:ln/>
        </p:spPr>
        <p:txBody>
          <a:bodyPr wrap="square" lIns="0" tIns="0" rIns="0" bIns="0" rtlCol="0" anchor="t"/>
          <a:lstStyle/>
          <a:p>
            <a:pPr marL="0" indent="0">
              <a:buNone/>
            </a:pPr>
            <a:r>
              <a:rPr lang="en-US" sz="1600" b="1" dirty="0">
                <a:solidFill>
                  <a:schemeClr val="tx1"/>
                </a:solidFill>
              </a:rPr>
              <a:t>공식 출범</a:t>
            </a:r>
            <a:endParaRPr lang="en-US" sz="1600" dirty="0"/>
          </a:p>
        </p:txBody>
      </p:sp>
      <p:sp>
        <p:nvSpPr>
          <p:cNvPr id="8" name="설명"/>
          <p:cNvSpPr txBox="1"/>
          <p:nvPr/>
        </p:nvSpPr>
        <p:spPr>
          <a:xfrm>
            <a:off x="822960" y="3840480"/>
            <a:ext cx="3017520" cy="777240"/>
          </a:xfrm>
          <a:prstGeom prst="rect">
            <a:avLst/>
          </a:prstGeom>
          <a:noFill/>
          <a:ln/>
        </p:spPr>
        <p:txBody>
          <a:bodyPr wrap="square" lIns="0" tIns="0" rIns="0" bIns="0" rtlCol="0" anchor="t"/>
          <a:lstStyle/>
          <a:p>
            <a:pPr marL="0" indent="0">
              <a:buNone/>
            </a:pPr>
            <a:r>
              <a:rPr lang="en-US" sz="1400" dirty="0">
                <a:solidFill>
                  <a:schemeClr val="tx2"/>
                </a:solidFill>
              </a:rPr>
              <a:t>5월 15일 총회를 거쳐 출범, 초대 회장 추대</a:t>
            </a:r>
            <a:endParaRPr lang="en-US" sz="1400" dirty="0"/>
          </a:p>
        </p:txBody>
      </p:sp>
      <p:sp>
        <p:nvSpPr>
          <p:cNvPr id="9" name="통계 카드 2"/>
          <p:cNvSpPr/>
          <p:nvPr/>
        </p:nvSpPr>
        <p:spPr>
          <a:xfrm>
            <a:off x="4334256" y="2377440"/>
            <a:ext cx="3520440" cy="2331720"/>
          </a:xfrm>
          <a:prstGeom prst="roundRect">
            <a:avLst>
              <a:gd name="adj" fmla="val 4706"/>
            </a:avLst>
          </a:prstGeom>
          <a:solidFill>
            <a:schemeClr val="bg2"/>
          </a:solidFill>
          <a:ln/>
        </p:spPr>
      </p:sp>
      <p:sp>
        <p:nvSpPr>
          <p:cNvPr id="10" name="큰 숫자 2008"/>
          <p:cNvSpPr txBox="1"/>
          <p:nvPr/>
        </p:nvSpPr>
        <p:spPr>
          <a:xfrm>
            <a:off x="4608576" y="2560320"/>
            <a:ext cx="3017520" cy="868680"/>
          </a:xfrm>
          <a:prstGeom prst="rect">
            <a:avLst/>
          </a:prstGeom>
          <a:noFill/>
          <a:ln/>
        </p:spPr>
        <p:txBody>
          <a:bodyPr wrap="square" lIns="0" tIns="0" rIns="0" bIns="0" rtlCol="0" anchor="t"/>
          <a:lstStyle/>
          <a:p>
            <a:pPr marL="0" indent="0">
              <a:buNone/>
            </a:pPr>
            <a:r>
              <a:rPr lang="en-US" sz="5200" b="1" dirty="0">
                <a:solidFill>
                  <a:schemeClr val="accent1"/>
                </a:solidFill>
              </a:rPr>
              <a:t>2000</a:t>
            </a:r>
            <a:endParaRPr lang="en-US" sz="5200" dirty="0"/>
          </a:p>
        </p:txBody>
      </p:sp>
      <p:sp>
        <p:nvSpPr>
          <p:cNvPr id="11" name="라벨"/>
          <p:cNvSpPr txBox="1"/>
          <p:nvPr/>
        </p:nvSpPr>
        <p:spPr>
          <a:xfrm>
            <a:off x="4608576" y="3474720"/>
            <a:ext cx="3017520" cy="320040"/>
          </a:xfrm>
          <a:prstGeom prst="rect">
            <a:avLst/>
          </a:prstGeom>
          <a:noFill/>
          <a:ln/>
        </p:spPr>
        <p:txBody>
          <a:bodyPr wrap="square" lIns="0" tIns="0" rIns="0" bIns="0" rtlCol="0" anchor="t"/>
          <a:lstStyle/>
          <a:p>
            <a:pPr marL="0" indent="0">
              <a:buNone/>
            </a:pPr>
            <a:r>
              <a:rPr lang="en-US" sz="1600" b="1" dirty="0">
                <a:solidFill>
                  <a:schemeClr val="tx1"/>
                </a:solidFill>
              </a:rPr>
              <a:t>이어받은 뿌리</a:t>
            </a:r>
            <a:endParaRPr lang="en-US" sz="1600" dirty="0"/>
          </a:p>
        </p:txBody>
      </p:sp>
      <p:sp>
        <p:nvSpPr>
          <p:cNvPr id="12" name="설명"/>
          <p:cNvSpPr txBox="1"/>
          <p:nvPr/>
        </p:nvSpPr>
        <p:spPr>
          <a:xfrm>
            <a:off x="4608576" y="3840480"/>
            <a:ext cx="3017520" cy="777240"/>
          </a:xfrm>
          <a:prstGeom prst="rect">
            <a:avLst/>
          </a:prstGeom>
          <a:noFill/>
          <a:ln/>
        </p:spPr>
        <p:txBody>
          <a:bodyPr wrap="square" lIns="0" tIns="0" rIns="0" bIns="0" rtlCol="0" anchor="t"/>
          <a:lstStyle/>
          <a:p>
            <a:pPr marL="0" indent="0">
              <a:buNone/>
            </a:pPr>
            <a:r>
              <a:rPr lang="ko-KR" altLang="en-US" sz="1400" dirty="0">
                <a:solidFill>
                  <a:schemeClr val="tx2"/>
                </a:solidFill>
              </a:rPr>
              <a:t>과학문화 </a:t>
            </a:r>
            <a:r>
              <a:rPr lang="en-US" altLang="ko-KR" sz="1400" dirty="0">
                <a:solidFill>
                  <a:schemeClr val="tx2"/>
                </a:solidFill>
              </a:rPr>
              <a:t>NGO</a:t>
            </a:r>
            <a:r>
              <a:rPr lang="ko-KR" altLang="en-US" sz="1400" dirty="0">
                <a:solidFill>
                  <a:schemeClr val="tx2"/>
                </a:solidFill>
              </a:rPr>
              <a:t>협의회를 거쳐 </a:t>
            </a:r>
            <a:r>
              <a:rPr lang="en-US" sz="1400" dirty="0" err="1">
                <a:solidFill>
                  <a:schemeClr val="tx2"/>
                </a:solidFill>
              </a:rPr>
              <a:t>한국과학문화교육단체연합</a:t>
            </a:r>
            <a:r>
              <a:rPr lang="en-US" sz="1400" dirty="0">
                <a:solidFill>
                  <a:schemeClr val="tx2"/>
                </a:solidFill>
              </a:rPr>
              <a:t>(2010</a:t>
            </a:r>
            <a:r>
              <a:rPr lang="ko-KR" altLang="en-US" sz="1400" dirty="0">
                <a:solidFill>
                  <a:schemeClr val="tx2"/>
                </a:solidFill>
              </a:rPr>
              <a:t>년</a:t>
            </a:r>
            <a:r>
              <a:rPr lang="en-US" altLang="ko-KR" sz="1400" dirty="0">
                <a:solidFill>
                  <a:schemeClr val="tx2"/>
                </a:solidFill>
              </a:rPr>
              <a:t>, </a:t>
            </a:r>
            <a:r>
              <a:rPr lang="en-US" sz="1400" dirty="0">
                <a:solidFill>
                  <a:schemeClr val="tx2"/>
                </a:solidFill>
              </a:rPr>
              <a:t>50여 개 단체)의 노하우와 네트워크 계승</a:t>
            </a:r>
            <a:endParaRPr lang="en-US" sz="1400" dirty="0"/>
          </a:p>
        </p:txBody>
      </p:sp>
      <p:sp>
        <p:nvSpPr>
          <p:cNvPr id="13" name="통계 카드 3"/>
          <p:cNvSpPr/>
          <p:nvPr/>
        </p:nvSpPr>
        <p:spPr>
          <a:xfrm>
            <a:off x="8119872" y="2377440"/>
            <a:ext cx="3520440" cy="2331720"/>
          </a:xfrm>
          <a:prstGeom prst="roundRect">
            <a:avLst>
              <a:gd name="adj" fmla="val 4706"/>
            </a:avLst>
          </a:prstGeom>
          <a:solidFill>
            <a:schemeClr val="bg2"/>
          </a:solidFill>
          <a:ln/>
        </p:spPr>
      </p:sp>
      <p:sp>
        <p:nvSpPr>
          <p:cNvPr id="14" name="큰 숫자 2031"/>
          <p:cNvSpPr txBox="1"/>
          <p:nvPr/>
        </p:nvSpPr>
        <p:spPr>
          <a:xfrm>
            <a:off x="8394192" y="2560320"/>
            <a:ext cx="3017520" cy="868680"/>
          </a:xfrm>
          <a:prstGeom prst="rect">
            <a:avLst/>
          </a:prstGeom>
          <a:noFill/>
          <a:ln/>
        </p:spPr>
        <p:txBody>
          <a:bodyPr wrap="square" lIns="0" tIns="0" rIns="0" bIns="0" rtlCol="0" anchor="t"/>
          <a:lstStyle/>
          <a:p>
            <a:pPr marL="0" indent="0">
              <a:buNone/>
            </a:pPr>
            <a:r>
              <a:rPr lang="en-US" sz="5200" b="1" dirty="0">
                <a:solidFill>
                  <a:schemeClr val="accent1"/>
                </a:solidFill>
              </a:rPr>
              <a:t>2031</a:t>
            </a:r>
            <a:endParaRPr lang="en-US" sz="5200" dirty="0"/>
          </a:p>
        </p:txBody>
      </p:sp>
      <p:sp>
        <p:nvSpPr>
          <p:cNvPr id="15" name="라벨"/>
          <p:cNvSpPr txBox="1"/>
          <p:nvPr/>
        </p:nvSpPr>
        <p:spPr>
          <a:xfrm>
            <a:off x="8394192" y="3474720"/>
            <a:ext cx="3017520" cy="320040"/>
          </a:xfrm>
          <a:prstGeom prst="rect">
            <a:avLst/>
          </a:prstGeom>
          <a:noFill/>
          <a:ln/>
        </p:spPr>
        <p:txBody>
          <a:bodyPr wrap="square" lIns="0" tIns="0" rIns="0" bIns="0" rtlCol="0" anchor="t"/>
          <a:lstStyle/>
          <a:p>
            <a:pPr marL="0" indent="0">
              <a:buNone/>
            </a:pPr>
            <a:r>
              <a:rPr lang="en-US" sz="1600" b="1" dirty="0">
                <a:solidFill>
                  <a:schemeClr val="tx1"/>
                </a:solidFill>
              </a:rPr>
              <a:t>세계 무대 목표</a:t>
            </a:r>
            <a:endParaRPr lang="en-US" sz="1600" dirty="0"/>
          </a:p>
        </p:txBody>
      </p:sp>
      <p:sp>
        <p:nvSpPr>
          <p:cNvPr id="16" name="설명"/>
          <p:cNvSpPr txBox="1"/>
          <p:nvPr/>
        </p:nvSpPr>
        <p:spPr>
          <a:xfrm>
            <a:off x="8394192" y="3840480"/>
            <a:ext cx="3017520" cy="777240"/>
          </a:xfrm>
          <a:prstGeom prst="rect">
            <a:avLst/>
          </a:prstGeom>
          <a:noFill/>
          <a:ln/>
        </p:spPr>
        <p:txBody>
          <a:bodyPr wrap="square" lIns="0" tIns="0" rIns="0" bIns="0" rtlCol="0" anchor="t"/>
          <a:lstStyle/>
          <a:p>
            <a:pPr marL="0" indent="0">
              <a:buNone/>
            </a:pPr>
            <a:r>
              <a:rPr lang="en-US" sz="1400" dirty="0">
                <a:solidFill>
                  <a:schemeClr val="tx2"/>
                </a:solidFill>
              </a:rPr>
              <a:t>PCST Network 세계대회 한국 유치를 위한 로드맵 추진</a:t>
            </a:r>
            <a:endParaRPr lang="en-US" sz="1400" dirty="0"/>
          </a:p>
        </p:txBody>
      </p:sp>
      <p:sp>
        <p:nvSpPr>
          <p:cNvPr id="17" name="초대 회장 띠"/>
          <p:cNvSpPr/>
          <p:nvPr/>
        </p:nvSpPr>
        <p:spPr>
          <a:xfrm>
            <a:off x="548640" y="4937760"/>
            <a:ext cx="11094415" cy="1325880"/>
          </a:xfrm>
          <a:prstGeom prst="roundRect">
            <a:avLst>
              <a:gd name="adj" fmla="val 8276"/>
            </a:avLst>
          </a:prstGeom>
          <a:solidFill>
            <a:schemeClr val="tx1"/>
          </a:solidFill>
          <a:ln/>
        </p:spPr>
      </p:sp>
      <p:sp>
        <p:nvSpPr>
          <p:cNvPr id="18" name="지구 배경"/>
          <p:cNvSpPr/>
          <p:nvPr/>
        </p:nvSpPr>
        <p:spPr>
          <a:xfrm>
            <a:off x="914400" y="5257800"/>
            <a:ext cx="685800" cy="685800"/>
          </a:xfrm>
          <a:prstGeom prst="ellipse">
            <a:avLst/>
          </a:prstGeom>
          <a:solidFill>
            <a:schemeClr val="accent1"/>
          </a:solidFill>
          <a:ln/>
        </p:spPr>
      </p:sp>
      <p:pic>
        <p:nvPicPr>
          <p:cNvPr id="19" name="지구 아이콘" descr="FaGlobeAsia"/>
          <p:cNvPicPr>
            <a:picLocks noChangeAspect="1"/>
          </p:cNvPicPr>
          <p:nvPr/>
        </p:nvPicPr>
        <p:blipFill>
          <a:blip r:embed="rId3"/>
          <a:stretch>
            <a:fillRect/>
          </a:stretch>
        </p:blipFill>
        <p:spPr>
          <a:xfrm>
            <a:off x="1092708" y="5436108"/>
            <a:ext cx="329184" cy="329184"/>
          </a:xfrm>
          <a:prstGeom prst="rect">
            <a:avLst/>
          </a:prstGeom>
        </p:spPr>
      </p:pic>
      <p:sp>
        <p:nvSpPr>
          <p:cNvPr id="20" name="회장 이름"/>
          <p:cNvSpPr txBox="1"/>
          <p:nvPr/>
        </p:nvSpPr>
        <p:spPr>
          <a:xfrm>
            <a:off x="1920240" y="5193792"/>
            <a:ext cx="9418320" cy="411480"/>
          </a:xfrm>
          <a:prstGeom prst="rect">
            <a:avLst/>
          </a:prstGeom>
          <a:noFill/>
          <a:ln/>
        </p:spPr>
        <p:txBody>
          <a:bodyPr wrap="square" lIns="0" tIns="0" rIns="0" bIns="0" rtlCol="0" anchor="t"/>
          <a:lstStyle/>
          <a:p>
            <a:pPr marL="0" indent="0">
              <a:buNone/>
            </a:pPr>
            <a:r>
              <a:rPr lang="en-US" sz="2000" b="1" dirty="0">
                <a:solidFill>
                  <a:schemeClr val="bg1"/>
                </a:solidFill>
              </a:rPr>
              <a:t>초대 회장  조숙경 교수 (한국에너지공과대학교 KENTECH)</a:t>
            </a:r>
            <a:endParaRPr lang="en-US" sz="2000" dirty="0"/>
          </a:p>
        </p:txBody>
      </p:sp>
      <p:sp>
        <p:nvSpPr>
          <p:cNvPr id="21" name="회장 소개"/>
          <p:cNvSpPr txBox="1"/>
          <p:nvPr/>
        </p:nvSpPr>
        <p:spPr>
          <a:xfrm>
            <a:off x="1920240" y="5650992"/>
            <a:ext cx="9418320" cy="502920"/>
          </a:xfrm>
          <a:prstGeom prst="rect">
            <a:avLst/>
          </a:prstGeom>
          <a:noFill/>
          <a:ln/>
        </p:spPr>
        <p:txBody>
          <a:bodyPr wrap="square" lIns="0" tIns="0" rIns="0" bIns="0" rtlCol="0" anchor="t"/>
          <a:lstStyle/>
          <a:p>
            <a:pPr marL="0" indent="0">
              <a:buNone/>
            </a:pPr>
            <a:r>
              <a:rPr lang="en-US" sz="1400" dirty="0">
                <a:solidFill>
                  <a:schemeClr val="accent6"/>
                </a:solidFill>
              </a:rPr>
              <a:t>세계과학커뮤니케이션학회(PCST Network)의 아시아인 최초 회장(2023~2025)  |  PCST Network의 핵심 아시아 기지로서 기능</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WHY NOW</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양적 팽창 이면의 빈칸</a:t>
            </a:r>
            <a:endParaRPr lang="en-US" sz="3200" dirty="0"/>
          </a:p>
        </p:txBody>
      </p:sp>
      <p:sp>
        <p:nvSpPr>
          <p:cNvPr id="4" name="왼쪽 카드"/>
          <p:cNvSpPr/>
          <p:nvPr/>
        </p:nvSpPr>
        <p:spPr>
          <a:xfrm>
            <a:off x="548640" y="1463040"/>
            <a:ext cx="4937760" cy="3840480"/>
          </a:xfrm>
          <a:prstGeom prst="roundRect">
            <a:avLst>
              <a:gd name="adj" fmla="val 2857"/>
            </a:avLst>
          </a:prstGeom>
          <a:solidFill>
            <a:schemeClr val="bg2"/>
          </a:solidFill>
          <a:ln/>
        </p:spPr>
      </p:sp>
      <p:sp>
        <p:nvSpPr>
          <p:cNvPr id="5" name="왼쪽 제목"/>
          <p:cNvSpPr txBox="1"/>
          <p:nvPr/>
        </p:nvSpPr>
        <p:spPr>
          <a:xfrm>
            <a:off x="914400" y="1691640"/>
            <a:ext cx="4206240" cy="457200"/>
          </a:xfrm>
          <a:prstGeom prst="rect">
            <a:avLst/>
          </a:prstGeom>
          <a:noFill/>
          <a:ln/>
        </p:spPr>
        <p:txBody>
          <a:bodyPr wrap="square" lIns="0" tIns="0" rIns="0" bIns="0" rtlCol="0" anchor="t"/>
          <a:lstStyle/>
          <a:p>
            <a:pPr marL="0" indent="0">
              <a:buNone/>
            </a:pPr>
            <a:r>
              <a:rPr lang="en-US" sz="2200" b="1" dirty="0">
                <a:solidFill>
                  <a:schemeClr val="tx1"/>
                </a:solidFill>
              </a:rPr>
              <a:t>폭발적으로 커진 것</a:t>
            </a:r>
            <a:endParaRPr lang="en-US" sz="2200" dirty="0"/>
          </a:p>
        </p:txBody>
      </p:sp>
      <p:sp>
        <p:nvSpPr>
          <p:cNvPr id="6" name="왼쪽 목록"/>
          <p:cNvSpPr txBox="1"/>
          <p:nvPr/>
        </p:nvSpPr>
        <p:spPr>
          <a:xfrm>
            <a:off x="914400" y="2331720"/>
            <a:ext cx="42976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뉴미디어·유튜브로 늘어난 대중과의 접점</a:t>
            </a:r>
            <a:endParaRPr lang="en-US" sz="1600" dirty="0"/>
          </a:p>
          <a:p>
            <a:pPr marL="342900" indent="-342900">
              <a:spcAft>
                <a:spcPts val="800"/>
              </a:spcAft>
              <a:buSzPct val="100000"/>
              <a:buChar char="•"/>
            </a:pPr>
            <a:r>
              <a:rPr lang="en-US" sz="1600" dirty="0">
                <a:solidFill>
                  <a:schemeClr val="tx2"/>
                </a:solidFill>
              </a:rPr>
              <a:t>‘과학커뮤니케이터’라는 새로운 직업군</a:t>
            </a:r>
            <a:endParaRPr lang="en-US" sz="1600" dirty="0"/>
          </a:p>
          <a:p>
            <a:pPr marL="342900" indent="-342900">
              <a:spcAft>
                <a:spcPts val="800"/>
              </a:spcAft>
              <a:buSzPct val="100000"/>
              <a:buChar char="•"/>
            </a:pPr>
            <a:r>
              <a:rPr lang="en-US" sz="1600" dirty="0">
                <a:solidFill>
                  <a:schemeClr val="tx2"/>
                </a:solidFill>
              </a:rPr>
              <a:t>2025년 출연연 기관 평가에 과학문화활동 지수 도입</a:t>
            </a:r>
            <a:endParaRPr lang="en-US" sz="1600" dirty="0"/>
          </a:p>
          <a:p>
            <a:pPr marL="342900" indent="-342900">
              <a:spcAft>
                <a:spcPts val="800"/>
              </a:spcAft>
              <a:buSzPct val="100000"/>
              <a:buChar char="•"/>
            </a:pPr>
            <a:r>
              <a:rPr lang="en-US" sz="1600" dirty="0">
                <a:solidFill>
                  <a:schemeClr val="tx2"/>
                </a:solidFill>
              </a:rPr>
              <a:t>과학카페·책방 등 민간의 자생적 과학문화 공간</a:t>
            </a:r>
            <a:endParaRPr lang="en-US" sz="1600" dirty="0"/>
          </a:p>
        </p:txBody>
      </p:sp>
      <p:sp>
        <p:nvSpPr>
          <p:cNvPr id="7" name="오른쪽 카드"/>
          <p:cNvSpPr/>
          <p:nvPr/>
        </p:nvSpPr>
        <p:spPr>
          <a:xfrm>
            <a:off x="6705295" y="1463040"/>
            <a:ext cx="4937760" cy="3840480"/>
          </a:xfrm>
          <a:prstGeom prst="roundRect">
            <a:avLst>
              <a:gd name="adj" fmla="val 2857"/>
            </a:avLst>
          </a:prstGeom>
          <a:solidFill>
            <a:schemeClr val="tx1"/>
          </a:solidFill>
          <a:ln/>
        </p:spPr>
      </p:sp>
      <p:sp>
        <p:nvSpPr>
          <p:cNvPr id="8" name="오른쪽 제목"/>
          <p:cNvSpPr txBox="1"/>
          <p:nvPr/>
        </p:nvSpPr>
        <p:spPr>
          <a:xfrm>
            <a:off x="7071055" y="1691640"/>
            <a:ext cx="4206240" cy="457200"/>
          </a:xfrm>
          <a:prstGeom prst="rect">
            <a:avLst/>
          </a:prstGeom>
          <a:noFill/>
          <a:ln/>
        </p:spPr>
        <p:txBody>
          <a:bodyPr wrap="square" lIns="0" tIns="0" rIns="0" bIns="0" rtlCol="0" anchor="t"/>
          <a:lstStyle/>
          <a:p>
            <a:pPr marL="0" indent="0">
              <a:buNone/>
            </a:pPr>
            <a:r>
              <a:rPr lang="en-US" sz="2200" b="1" dirty="0">
                <a:solidFill>
                  <a:schemeClr val="accent5"/>
                </a:solidFill>
              </a:rPr>
              <a:t>아직 비어 있는 것</a:t>
            </a:r>
            <a:endParaRPr lang="en-US" sz="2200" dirty="0"/>
          </a:p>
        </p:txBody>
      </p:sp>
      <p:sp>
        <p:nvSpPr>
          <p:cNvPr id="9" name="오른쪽 목록"/>
          <p:cNvSpPr txBox="1"/>
          <p:nvPr/>
        </p:nvSpPr>
        <p:spPr>
          <a:xfrm>
            <a:off x="7071055" y="2331720"/>
            <a:ext cx="429768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소통 활동을 뒷받침할 학술적 기반</a:t>
            </a:r>
            <a:endParaRPr lang="en-US" sz="1600" dirty="0"/>
          </a:p>
          <a:p>
            <a:pPr marL="342900" indent="-342900">
              <a:spcAft>
                <a:spcPts val="800"/>
              </a:spcAft>
              <a:buSzPct val="100000"/>
              <a:buChar char="•"/>
            </a:pPr>
            <a:r>
              <a:rPr lang="en-US" sz="1600" dirty="0">
                <a:solidFill>
                  <a:schemeClr val="bg1"/>
                </a:solidFill>
              </a:rPr>
              <a:t>팩트(전공 지식)와 임팩트(스토리텔링)를 잇는 협력 체계</a:t>
            </a:r>
            <a:endParaRPr lang="en-US" sz="1600" dirty="0"/>
          </a:p>
          <a:p>
            <a:pPr marL="342900" indent="-342900">
              <a:spcAft>
                <a:spcPts val="800"/>
              </a:spcAft>
              <a:buSzPct val="100000"/>
              <a:buChar char="•"/>
            </a:pPr>
            <a:r>
              <a:rPr lang="en-US" sz="1600" dirty="0">
                <a:solidFill>
                  <a:schemeClr val="bg1"/>
                </a:solidFill>
              </a:rPr>
              <a:t>소통 활동의 제도적 인정과 정당한 대우</a:t>
            </a:r>
            <a:endParaRPr lang="en-US" sz="1600" dirty="0"/>
          </a:p>
          <a:p>
            <a:pPr marL="342900" indent="-342900">
              <a:spcAft>
                <a:spcPts val="800"/>
              </a:spcAft>
              <a:buSzPct val="100000"/>
              <a:buChar char="•"/>
            </a:pPr>
            <a:r>
              <a:rPr lang="en-US" sz="1600" dirty="0">
                <a:solidFill>
                  <a:schemeClr val="bg1"/>
                </a:solidFill>
              </a:rPr>
              <a:t>국제 무대에서 한국을 대표할 단일 학회</a:t>
            </a:r>
            <a:endParaRPr lang="en-US" sz="1600" dirty="0"/>
          </a:p>
        </p:txBody>
      </p:sp>
      <p:sp>
        <p:nvSpPr>
          <p:cNvPr id="10" name="그러나 원"/>
          <p:cNvSpPr/>
          <p:nvPr/>
        </p:nvSpPr>
        <p:spPr>
          <a:xfrm>
            <a:off x="5596128" y="2880360"/>
            <a:ext cx="1005840" cy="1005840"/>
          </a:xfrm>
          <a:prstGeom prst="ellipse">
            <a:avLst/>
          </a:prstGeom>
          <a:solidFill>
            <a:schemeClr val="accent2"/>
          </a:solidFill>
          <a:ln/>
        </p:spPr>
        <p:txBody>
          <a:bodyPr wrap="square" lIns="0" tIns="0" rIns="0" bIns="0" rtlCol="0" anchor="ctr"/>
          <a:lstStyle/>
          <a:p>
            <a:pPr marL="0" indent="0" algn="ctr">
              <a:buNone/>
            </a:pPr>
            <a:r>
              <a:rPr lang="en-US" sz="1600" b="1" dirty="0">
                <a:solidFill>
                  <a:schemeClr val="bg1"/>
                </a:solidFill>
              </a:rPr>
              <a:t>그러나</a:t>
            </a:r>
            <a:endParaRPr lang="en-US" sz="1600" dirty="0"/>
          </a:p>
        </p:txBody>
      </p:sp>
      <p:sp>
        <p:nvSpPr>
          <p:cNvPr id="11" name="결론 띠"/>
          <p:cNvSpPr/>
          <p:nvPr/>
        </p:nvSpPr>
        <p:spPr>
          <a:xfrm>
            <a:off x="548640" y="5486400"/>
            <a:ext cx="11094415" cy="777240"/>
          </a:xfrm>
          <a:prstGeom prst="roundRect">
            <a:avLst>
              <a:gd name="adj" fmla="val 14118"/>
            </a:avLst>
          </a:prstGeom>
          <a:solidFill>
            <a:schemeClr val="accent1"/>
          </a:solidFill>
          <a:ln/>
        </p:spPr>
      </p:sp>
      <p:sp>
        <p:nvSpPr>
          <p:cNvPr id="12" name="결론 문구"/>
          <p:cNvSpPr txBox="1"/>
          <p:nvPr/>
        </p:nvSpPr>
        <p:spPr>
          <a:xfrm>
            <a:off x="914400" y="5486400"/>
            <a:ext cx="10362895" cy="777240"/>
          </a:xfrm>
          <a:prstGeom prst="rect">
            <a:avLst/>
          </a:prstGeom>
          <a:noFill/>
          <a:ln/>
        </p:spPr>
        <p:txBody>
          <a:bodyPr wrap="square" lIns="0" tIns="0" rIns="0" bIns="0" rtlCol="0" anchor="ctr"/>
          <a:lstStyle/>
          <a:p>
            <a:pPr marL="0" indent="0">
              <a:buNone/>
            </a:pPr>
            <a:r>
              <a:rPr lang="en-US" sz="1800" b="1" dirty="0">
                <a:solidFill>
                  <a:schemeClr val="bg1"/>
                </a:solidFill>
              </a:rPr>
              <a:t>KCST는 대중성의 열기를 학술적 깊이와 연결하는 통합 플랫폼입니다</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FIVE CHALLENGES</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KCST가 풀어야 할 5가지 과제</a:t>
            </a:r>
            <a:endParaRPr lang="en-US" sz="3200" dirty="0"/>
          </a:p>
        </p:txBody>
      </p:sp>
      <p:sp>
        <p:nvSpPr>
          <p:cNvPr id="4" name="과제 행 1"/>
          <p:cNvSpPr/>
          <p:nvPr/>
        </p:nvSpPr>
        <p:spPr>
          <a:xfrm>
            <a:off x="548640" y="1463040"/>
            <a:ext cx="11094415" cy="868680"/>
          </a:xfrm>
          <a:prstGeom prst="roundRect">
            <a:avLst>
              <a:gd name="adj" fmla="val 12632"/>
            </a:avLst>
          </a:prstGeom>
          <a:solidFill>
            <a:schemeClr val="bg2"/>
          </a:solidFill>
          <a:ln/>
        </p:spPr>
      </p:sp>
      <p:sp>
        <p:nvSpPr>
          <p:cNvPr id="5" name="번호 1"/>
          <p:cNvSpPr/>
          <p:nvPr/>
        </p:nvSpPr>
        <p:spPr>
          <a:xfrm>
            <a:off x="822960" y="1618488"/>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과제 제목 1"/>
          <p:cNvSpPr txBox="1"/>
          <p:nvPr/>
        </p:nvSpPr>
        <p:spPr>
          <a:xfrm>
            <a:off x="1645920" y="1463040"/>
            <a:ext cx="3931920" cy="868680"/>
          </a:xfrm>
          <a:prstGeom prst="rect">
            <a:avLst/>
          </a:prstGeom>
          <a:noFill/>
          <a:ln/>
        </p:spPr>
        <p:txBody>
          <a:bodyPr wrap="square" lIns="0" tIns="0" rIns="0" bIns="0" rtlCol="0" anchor="ctr"/>
          <a:lstStyle/>
          <a:p>
            <a:pPr marL="0" indent="0">
              <a:buNone/>
            </a:pPr>
            <a:r>
              <a:rPr lang="en-US" sz="1700" b="1" dirty="0">
                <a:solidFill>
                  <a:schemeClr val="tx1"/>
                </a:solidFill>
              </a:rPr>
              <a:t>‘팩트’와 ‘임팩트’의 괴리</a:t>
            </a:r>
            <a:endParaRPr lang="en-US" sz="1700" dirty="0"/>
          </a:p>
        </p:txBody>
      </p:sp>
      <p:sp>
        <p:nvSpPr>
          <p:cNvPr id="7" name="과제 설명 1"/>
          <p:cNvSpPr txBox="1"/>
          <p:nvPr/>
        </p:nvSpPr>
        <p:spPr>
          <a:xfrm>
            <a:off x="5760720" y="1463040"/>
            <a:ext cx="5669280" cy="868680"/>
          </a:xfrm>
          <a:prstGeom prst="rect">
            <a:avLst/>
          </a:prstGeom>
          <a:noFill/>
          <a:ln/>
        </p:spPr>
        <p:txBody>
          <a:bodyPr wrap="square" lIns="0" tIns="0" rIns="0" bIns="0" rtlCol="0" anchor="ctr"/>
          <a:lstStyle/>
          <a:p>
            <a:pPr marL="0" indent="0">
              <a:buNone/>
            </a:pPr>
            <a:r>
              <a:rPr lang="en-US" sz="1400" dirty="0">
                <a:solidFill>
                  <a:schemeClr val="tx2"/>
                </a:solidFill>
              </a:rPr>
              <a:t>소통가의 스토리텔링과 전공 과학자의 깊이 있는 지식을 잇는 협력 체계</a:t>
            </a:r>
            <a:endParaRPr lang="en-US" sz="1400" dirty="0"/>
          </a:p>
        </p:txBody>
      </p:sp>
      <p:sp>
        <p:nvSpPr>
          <p:cNvPr id="8" name="과제 행 2"/>
          <p:cNvSpPr/>
          <p:nvPr/>
        </p:nvSpPr>
        <p:spPr>
          <a:xfrm>
            <a:off x="548640" y="2423160"/>
            <a:ext cx="11094415" cy="868680"/>
          </a:xfrm>
          <a:prstGeom prst="roundRect">
            <a:avLst>
              <a:gd name="adj" fmla="val 12632"/>
            </a:avLst>
          </a:prstGeom>
          <a:solidFill>
            <a:schemeClr val="bg2"/>
          </a:solidFill>
          <a:ln/>
        </p:spPr>
      </p:sp>
      <p:sp>
        <p:nvSpPr>
          <p:cNvPr id="9" name="번호 2"/>
          <p:cNvSpPr/>
          <p:nvPr/>
        </p:nvSpPr>
        <p:spPr>
          <a:xfrm>
            <a:off x="822960" y="2578608"/>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0" name="과제 제목 2"/>
          <p:cNvSpPr txBox="1"/>
          <p:nvPr/>
        </p:nvSpPr>
        <p:spPr>
          <a:xfrm>
            <a:off x="1645920" y="2423160"/>
            <a:ext cx="3931920" cy="868680"/>
          </a:xfrm>
          <a:prstGeom prst="rect">
            <a:avLst/>
          </a:prstGeom>
          <a:noFill/>
          <a:ln/>
        </p:spPr>
        <p:txBody>
          <a:bodyPr wrap="square" lIns="0" tIns="0" rIns="0" bIns="0" rtlCol="0" anchor="ctr"/>
          <a:lstStyle/>
          <a:p>
            <a:pPr marL="0" indent="0">
              <a:buNone/>
            </a:pPr>
            <a:r>
              <a:rPr lang="en-US" sz="1700" b="1" dirty="0">
                <a:solidFill>
                  <a:schemeClr val="tx1"/>
                </a:solidFill>
              </a:rPr>
              <a:t>‘과학자의 아마추어리즘’ 탈피</a:t>
            </a:r>
            <a:endParaRPr lang="en-US" sz="1700" dirty="0"/>
          </a:p>
        </p:txBody>
      </p:sp>
      <p:sp>
        <p:nvSpPr>
          <p:cNvPr id="11" name="과제 설명 2"/>
          <p:cNvSpPr txBox="1"/>
          <p:nvPr/>
        </p:nvSpPr>
        <p:spPr>
          <a:xfrm>
            <a:off x="5760720" y="2423160"/>
            <a:ext cx="5669280" cy="868680"/>
          </a:xfrm>
          <a:prstGeom prst="rect">
            <a:avLst/>
          </a:prstGeom>
          <a:noFill/>
          <a:ln/>
        </p:spPr>
        <p:txBody>
          <a:bodyPr wrap="square" lIns="0" tIns="0" rIns="0" bIns="0" rtlCol="0" anchor="ctr"/>
          <a:lstStyle/>
          <a:p>
            <a:pPr marL="0" indent="0">
              <a:buNone/>
            </a:pPr>
            <a:r>
              <a:rPr lang="en-US" sz="1400" dirty="0">
                <a:solidFill>
                  <a:schemeClr val="tx2"/>
                </a:solidFill>
              </a:rPr>
              <a:t>소통 활동의 정당한 가치와 처우를 인정받는 문화 만들기</a:t>
            </a:r>
            <a:endParaRPr lang="en-US" sz="1400" dirty="0"/>
          </a:p>
        </p:txBody>
      </p:sp>
      <p:sp>
        <p:nvSpPr>
          <p:cNvPr id="12" name="과제 행 3"/>
          <p:cNvSpPr/>
          <p:nvPr/>
        </p:nvSpPr>
        <p:spPr>
          <a:xfrm>
            <a:off x="548640" y="3383280"/>
            <a:ext cx="11094415" cy="868680"/>
          </a:xfrm>
          <a:prstGeom prst="roundRect">
            <a:avLst>
              <a:gd name="adj" fmla="val 12632"/>
            </a:avLst>
          </a:prstGeom>
          <a:solidFill>
            <a:schemeClr val="bg2"/>
          </a:solidFill>
          <a:ln/>
        </p:spPr>
      </p:sp>
      <p:sp>
        <p:nvSpPr>
          <p:cNvPr id="13" name="번호 3"/>
          <p:cNvSpPr/>
          <p:nvPr/>
        </p:nvSpPr>
        <p:spPr>
          <a:xfrm>
            <a:off x="822960" y="3538728"/>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4" name="과제 제목 3"/>
          <p:cNvSpPr txBox="1"/>
          <p:nvPr/>
        </p:nvSpPr>
        <p:spPr>
          <a:xfrm>
            <a:off x="1645920" y="3383280"/>
            <a:ext cx="3931920" cy="868680"/>
          </a:xfrm>
          <a:prstGeom prst="rect">
            <a:avLst/>
          </a:prstGeom>
          <a:noFill/>
          <a:ln/>
        </p:spPr>
        <p:txBody>
          <a:bodyPr wrap="square" lIns="0" tIns="0" rIns="0" bIns="0" rtlCol="0" anchor="ctr"/>
          <a:lstStyle/>
          <a:p>
            <a:pPr marL="0" indent="0">
              <a:buNone/>
            </a:pPr>
            <a:r>
              <a:rPr lang="en-US" sz="1700" b="1" dirty="0">
                <a:solidFill>
                  <a:schemeClr val="tx1"/>
                </a:solidFill>
              </a:rPr>
              <a:t>은퇴 과학기술인의 전문성 활용</a:t>
            </a:r>
            <a:endParaRPr lang="en-US" sz="1700" dirty="0"/>
          </a:p>
        </p:txBody>
      </p:sp>
      <p:sp>
        <p:nvSpPr>
          <p:cNvPr id="15" name="과제 설명 3"/>
          <p:cNvSpPr txBox="1"/>
          <p:nvPr/>
        </p:nvSpPr>
        <p:spPr>
          <a:xfrm>
            <a:off x="5760720" y="3383280"/>
            <a:ext cx="5669280" cy="868680"/>
          </a:xfrm>
          <a:prstGeom prst="rect">
            <a:avLst/>
          </a:prstGeom>
          <a:noFill/>
          <a:ln/>
        </p:spPr>
        <p:txBody>
          <a:bodyPr wrap="square" lIns="0" tIns="0" rIns="0" bIns="0" rtlCol="0" anchor="ctr"/>
          <a:lstStyle/>
          <a:p>
            <a:pPr marL="0" indent="0">
              <a:buNone/>
            </a:pPr>
            <a:r>
              <a:rPr lang="en-US" sz="1400" dirty="0">
                <a:solidFill>
                  <a:schemeClr val="tx2"/>
                </a:solidFill>
              </a:rPr>
              <a:t>30년 이상의 강의·연구 노하우를 사회와 잇는 무대 마련</a:t>
            </a:r>
            <a:endParaRPr lang="en-US" sz="1400" dirty="0"/>
          </a:p>
        </p:txBody>
      </p:sp>
      <p:sp>
        <p:nvSpPr>
          <p:cNvPr id="16" name="과제 행 4"/>
          <p:cNvSpPr/>
          <p:nvPr/>
        </p:nvSpPr>
        <p:spPr>
          <a:xfrm>
            <a:off x="548640" y="4343400"/>
            <a:ext cx="11094415" cy="868680"/>
          </a:xfrm>
          <a:prstGeom prst="roundRect">
            <a:avLst>
              <a:gd name="adj" fmla="val 12632"/>
            </a:avLst>
          </a:prstGeom>
          <a:solidFill>
            <a:schemeClr val="bg2"/>
          </a:solidFill>
          <a:ln/>
        </p:spPr>
      </p:sp>
      <p:sp>
        <p:nvSpPr>
          <p:cNvPr id="17" name="번호 4"/>
          <p:cNvSpPr/>
          <p:nvPr/>
        </p:nvSpPr>
        <p:spPr>
          <a:xfrm>
            <a:off x="822960" y="4498848"/>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8" name="과제 제목 4"/>
          <p:cNvSpPr txBox="1"/>
          <p:nvPr/>
        </p:nvSpPr>
        <p:spPr>
          <a:xfrm>
            <a:off x="1645920" y="4343400"/>
            <a:ext cx="3931920" cy="868680"/>
          </a:xfrm>
          <a:prstGeom prst="rect">
            <a:avLst/>
          </a:prstGeom>
          <a:noFill/>
          <a:ln/>
        </p:spPr>
        <p:txBody>
          <a:bodyPr wrap="square" lIns="0" tIns="0" rIns="0" bIns="0" rtlCol="0" anchor="ctr"/>
          <a:lstStyle/>
          <a:p>
            <a:pPr marL="0" indent="0">
              <a:buNone/>
            </a:pPr>
            <a:r>
              <a:rPr lang="en-US" sz="1700" b="1" dirty="0">
                <a:solidFill>
                  <a:schemeClr val="tx1"/>
                </a:solidFill>
              </a:rPr>
              <a:t>‘한국형 과학자본’의 한계 극복</a:t>
            </a:r>
            <a:endParaRPr lang="en-US" sz="1700" dirty="0"/>
          </a:p>
        </p:txBody>
      </p:sp>
      <p:sp>
        <p:nvSpPr>
          <p:cNvPr id="19" name="과제 설명 4"/>
          <p:cNvSpPr txBox="1"/>
          <p:nvPr/>
        </p:nvSpPr>
        <p:spPr>
          <a:xfrm>
            <a:off x="5760720" y="4343400"/>
            <a:ext cx="5669280" cy="868680"/>
          </a:xfrm>
          <a:prstGeom prst="rect">
            <a:avLst/>
          </a:prstGeom>
          <a:noFill/>
          <a:ln/>
        </p:spPr>
        <p:txBody>
          <a:bodyPr wrap="square" lIns="0" tIns="0" rIns="0" bIns="0" rtlCol="0" anchor="ctr"/>
          <a:lstStyle/>
          <a:p>
            <a:pPr marL="0" indent="0">
              <a:buNone/>
            </a:pPr>
            <a:r>
              <a:rPr lang="en-US" sz="1400" dirty="0">
                <a:solidFill>
                  <a:schemeClr val="tx2"/>
                </a:solidFill>
              </a:rPr>
              <a:t>출연연·과학관·민간 생태계가 함께 논의하고 연결되는 장</a:t>
            </a:r>
            <a:endParaRPr lang="en-US" sz="1400" dirty="0"/>
          </a:p>
        </p:txBody>
      </p:sp>
      <p:sp>
        <p:nvSpPr>
          <p:cNvPr id="20" name="과제 행 5"/>
          <p:cNvSpPr/>
          <p:nvPr/>
        </p:nvSpPr>
        <p:spPr>
          <a:xfrm>
            <a:off x="548640" y="5303520"/>
            <a:ext cx="11094415" cy="868680"/>
          </a:xfrm>
          <a:prstGeom prst="roundRect">
            <a:avLst>
              <a:gd name="adj" fmla="val 12632"/>
            </a:avLst>
          </a:prstGeom>
          <a:solidFill>
            <a:schemeClr val="bg2"/>
          </a:solidFill>
          <a:ln/>
        </p:spPr>
      </p:sp>
      <p:sp>
        <p:nvSpPr>
          <p:cNvPr id="21" name="번호 5"/>
          <p:cNvSpPr/>
          <p:nvPr/>
        </p:nvSpPr>
        <p:spPr>
          <a:xfrm>
            <a:off x="822960" y="5458968"/>
            <a:ext cx="566928" cy="566928"/>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2" name="과제 제목 5"/>
          <p:cNvSpPr txBox="1"/>
          <p:nvPr/>
        </p:nvSpPr>
        <p:spPr>
          <a:xfrm>
            <a:off x="1645920" y="5303520"/>
            <a:ext cx="3931920" cy="868680"/>
          </a:xfrm>
          <a:prstGeom prst="rect">
            <a:avLst/>
          </a:prstGeom>
          <a:noFill/>
          <a:ln/>
        </p:spPr>
        <p:txBody>
          <a:bodyPr wrap="square" lIns="0" tIns="0" rIns="0" bIns="0" rtlCol="0" anchor="ctr"/>
          <a:lstStyle/>
          <a:p>
            <a:pPr marL="0" indent="0">
              <a:buNone/>
            </a:pPr>
            <a:r>
              <a:rPr lang="en-US" sz="1700" b="1" dirty="0">
                <a:solidFill>
                  <a:schemeClr val="tx1"/>
                </a:solidFill>
              </a:rPr>
              <a:t>국제 무대의 단일 창구</a:t>
            </a:r>
            <a:endParaRPr lang="en-US" sz="1700" dirty="0"/>
          </a:p>
        </p:txBody>
      </p:sp>
      <p:sp>
        <p:nvSpPr>
          <p:cNvPr id="23" name="과제 설명 5"/>
          <p:cNvSpPr txBox="1"/>
          <p:nvPr/>
        </p:nvSpPr>
        <p:spPr>
          <a:xfrm>
            <a:off x="5760720" y="5303520"/>
            <a:ext cx="5669280" cy="868680"/>
          </a:xfrm>
          <a:prstGeom prst="rect">
            <a:avLst/>
          </a:prstGeom>
          <a:noFill/>
          <a:ln/>
        </p:spPr>
        <p:txBody>
          <a:bodyPr wrap="square" lIns="0" tIns="0" rIns="0" bIns="0" rtlCol="0" anchor="ctr"/>
          <a:lstStyle/>
          <a:p>
            <a:pPr marL="0" indent="0">
              <a:buNone/>
            </a:pPr>
            <a:r>
              <a:rPr lang="en-US" sz="1400" dirty="0">
                <a:solidFill>
                  <a:schemeClr val="tx2"/>
                </a:solidFill>
              </a:rPr>
              <a:t>PCST Network 2031 대회 유치를 위한 국내 거점 학회</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VOICES FROM THE FIELD</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현장이 먼저 말했습니다</a:t>
            </a:r>
            <a:endParaRPr lang="en-US" sz="3200" dirty="0"/>
          </a:p>
        </p:txBody>
      </p:sp>
      <p:sp>
        <p:nvSpPr>
          <p:cNvPr id="4" name="통계 카드"/>
          <p:cNvSpPr/>
          <p:nvPr/>
        </p:nvSpPr>
        <p:spPr>
          <a:xfrm>
            <a:off x="548640" y="1463040"/>
            <a:ext cx="4754880" cy="2331720"/>
          </a:xfrm>
          <a:prstGeom prst="roundRect">
            <a:avLst>
              <a:gd name="adj" fmla="val 4706"/>
            </a:avLst>
          </a:prstGeom>
          <a:solidFill>
            <a:schemeClr val="tx1"/>
          </a:solidFill>
          <a:ln/>
        </p:spPr>
      </p:sp>
      <p:sp>
        <p:nvSpPr>
          <p:cNvPr id="5" name="큰 숫자 87%"/>
          <p:cNvSpPr txBox="1"/>
          <p:nvPr/>
        </p:nvSpPr>
        <p:spPr>
          <a:xfrm>
            <a:off x="914400" y="1600200"/>
            <a:ext cx="4023360" cy="1005840"/>
          </a:xfrm>
          <a:prstGeom prst="rect">
            <a:avLst/>
          </a:prstGeom>
          <a:noFill/>
          <a:ln/>
        </p:spPr>
        <p:txBody>
          <a:bodyPr wrap="square" lIns="0" tIns="0" rIns="0" bIns="0" rtlCol="0" anchor="t"/>
          <a:lstStyle/>
          <a:p>
            <a:pPr marL="0" indent="0">
              <a:buNone/>
            </a:pPr>
            <a:r>
              <a:rPr lang="en-US" sz="6600" b="1" dirty="0">
                <a:solidFill>
                  <a:schemeClr val="accent5"/>
                </a:solidFill>
              </a:rPr>
              <a:t>87%</a:t>
            </a:r>
            <a:endParaRPr lang="en-US" sz="6600" dirty="0"/>
          </a:p>
        </p:txBody>
      </p:sp>
      <p:sp>
        <p:nvSpPr>
          <p:cNvPr id="6" name="통계 설명"/>
          <p:cNvSpPr txBox="1"/>
          <p:nvPr/>
        </p:nvSpPr>
        <p:spPr>
          <a:xfrm>
            <a:off x="914400" y="2651760"/>
            <a:ext cx="4114800" cy="731520"/>
          </a:xfrm>
          <a:prstGeom prst="rect">
            <a:avLst/>
          </a:prstGeom>
          <a:noFill/>
          <a:ln/>
        </p:spPr>
        <p:txBody>
          <a:bodyPr wrap="square" lIns="0" tIns="0" rIns="0" bIns="0" rtlCol="0" anchor="t"/>
          <a:lstStyle/>
          <a:p>
            <a:pPr marL="0" indent="0">
              <a:buNone/>
            </a:pPr>
            <a:r>
              <a:rPr lang="en-US" sz="1500" dirty="0">
                <a:solidFill>
                  <a:schemeClr val="bg1"/>
                </a:solidFill>
              </a:rPr>
              <a:t>연구자의 87%가 소통의 필요성에 동의하지만, 실제 참여는 절반 수준에 그칩니다</a:t>
            </a:r>
            <a:endParaRPr lang="en-US" sz="1500" dirty="0"/>
          </a:p>
        </p:txBody>
      </p:sp>
      <p:sp>
        <p:nvSpPr>
          <p:cNvPr id="7" name="출처"/>
          <p:cNvSpPr txBox="1"/>
          <p:nvPr/>
        </p:nvSpPr>
        <p:spPr>
          <a:xfrm>
            <a:off x="914400" y="3429000"/>
            <a:ext cx="4114800" cy="274320"/>
          </a:xfrm>
          <a:prstGeom prst="rect">
            <a:avLst/>
          </a:prstGeom>
          <a:noFill/>
          <a:ln/>
        </p:spPr>
        <p:txBody>
          <a:bodyPr wrap="square" lIns="0" tIns="0" rIns="0" bIns="0" rtlCol="0" anchor="t"/>
          <a:lstStyle/>
          <a:p>
            <a:pPr marL="0" indent="0">
              <a:buNone/>
            </a:pPr>
            <a:r>
              <a:rPr lang="en-US" sz="1100" dirty="0">
                <a:solidFill>
                  <a:schemeClr val="accent6"/>
                </a:solidFill>
              </a:rPr>
              <a:t>출처: KCST 제1회 라운드톡 발제(2026.8.10)</a:t>
            </a:r>
            <a:endParaRPr lang="en-US" sz="1100" dirty="0"/>
          </a:p>
        </p:txBody>
      </p:sp>
      <p:sp>
        <p:nvSpPr>
          <p:cNvPr id="8" name="제안 카드"/>
          <p:cNvSpPr/>
          <p:nvPr/>
        </p:nvSpPr>
        <p:spPr>
          <a:xfrm>
            <a:off x="548640" y="3977640"/>
            <a:ext cx="4754880" cy="2286000"/>
          </a:xfrm>
          <a:prstGeom prst="roundRect">
            <a:avLst>
              <a:gd name="adj" fmla="val 4800"/>
            </a:avLst>
          </a:prstGeom>
          <a:solidFill>
            <a:schemeClr val="bg2"/>
          </a:solidFill>
          <a:ln/>
        </p:spPr>
      </p:sp>
      <p:sp>
        <p:nvSpPr>
          <p:cNvPr id="9" name="제안 제목"/>
          <p:cNvSpPr txBox="1"/>
          <p:nvPr/>
        </p:nvSpPr>
        <p:spPr>
          <a:xfrm>
            <a:off x="868680" y="4114800"/>
            <a:ext cx="4114800" cy="365760"/>
          </a:xfrm>
          <a:prstGeom prst="rect">
            <a:avLst/>
          </a:prstGeom>
          <a:noFill/>
          <a:ln/>
        </p:spPr>
        <p:txBody>
          <a:bodyPr wrap="square" lIns="0" tIns="0" rIns="0" bIns="0" rtlCol="0" anchor="t"/>
          <a:lstStyle/>
          <a:p>
            <a:pPr marL="0" indent="0">
              <a:buNone/>
            </a:pPr>
            <a:r>
              <a:rPr lang="en-US" sz="1800" b="1" dirty="0">
                <a:solidFill>
                  <a:schemeClr val="tx1"/>
                </a:solidFill>
              </a:rPr>
              <a:t>현장이 제안한 방향</a:t>
            </a:r>
            <a:endParaRPr lang="en-US" sz="1800" dirty="0"/>
          </a:p>
        </p:txBody>
      </p:sp>
      <p:sp>
        <p:nvSpPr>
          <p:cNvPr id="10" name="제안 목록"/>
          <p:cNvSpPr txBox="1"/>
          <p:nvPr/>
        </p:nvSpPr>
        <p:spPr>
          <a:xfrm>
            <a:off x="868680" y="4572000"/>
            <a:ext cx="420624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연구자 업무시간의 10%를 소통 활동으로 공식 인정</a:t>
            </a:r>
            <a:endParaRPr lang="en-US" sz="1400" dirty="0"/>
          </a:p>
          <a:p>
            <a:pPr marL="342900" indent="-342900">
              <a:spcAft>
                <a:spcPts val="600"/>
              </a:spcAft>
              <a:buSzPct val="100000"/>
              <a:buChar char="•"/>
            </a:pPr>
            <a:r>
              <a:rPr lang="en-US" sz="1400" dirty="0">
                <a:solidFill>
                  <a:schemeClr val="tx2"/>
                </a:solidFill>
              </a:rPr>
              <a:t>학회 차원의 과학 커뮤니케이터 인증제</a:t>
            </a:r>
            <a:endParaRPr lang="en-US" sz="1400" dirty="0"/>
          </a:p>
          <a:p>
            <a:pPr marL="342900" indent="-342900">
              <a:spcAft>
                <a:spcPts val="600"/>
              </a:spcAft>
              <a:buSzPct val="100000"/>
              <a:buChar char="•"/>
            </a:pPr>
            <a:r>
              <a:rPr lang="en-US" sz="1400" dirty="0">
                <a:solidFill>
                  <a:schemeClr val="tx2"/>
                </a:solidFill>
              </a:rPr>
              <a:t>‘과학 영업’에서 ‘과학 마케팅’으로 전환</a:t>
            </a:r>
            <a:endParaRPr lang="en-US" sz="1400" dirty="0"/>
          </a:p>
        </p:txBody>
      </p:sp>
      <p:sp>
        <p:nvSpPr>
          <p:cNvPr id="11" name="차트 카드"/>
          <p:cNvSpPr/>
          <p:nvPr/>
        </p:nvSpPr>
        <p:spPr>
          <a:xfrm>
            <a:off x="5577840" y="1463040"/>
            <a:ext cx="6065215" cy="4800600"/>
          </a:xfrm>
          <a:prstGeom prst="roundRect">
            <a:avLst>
              <a:gd name="adj" fmla="val 2286"/>
            </a:avLst>
          </a:prstGeom>
          <a:solidFill>
            <a:schemeClr val="bg2"/>
          </a:solidFill>
          <a:ln/>
        </p:spPr>
      </p:sp>
      <p:sp>
        <p:nvSpPr>
          <p:cNvPr id="12" name="차트 제목"/>
          <p:cNvSpPr txBox="1"/>
          <p:nvPr/>
        </p:nvSpPr>
        <p:spPr>
          <a:xfrm>
            <a:off x="5897880" y="1645920"/>
            <a:ext cx="5486400" cy="365760"/>
          </a:xfrm>
          <a:prstGeom prst="rect">
            <a:avLst/>
          </a:prstGeom>
          <a:noFill/>
          <a:ln/>
        </p:spPr>
        <p:txBody>
          <a:bodyPr wrap="square" lIns="0" tIns="0" rIns="0" bIns="0" rtlCol="0" anchor="t"/>
          <a:lstStyle/>
          <a:p>
            <a:pPr marL="0" indent="0">
              <a:buNone/>
            </a:pPr>
            <a:r>
              <a:rPr lang="en-US" sz="1800" b="1" dirty="0">
                <a:solidFill>
                  <a:schemeClr val="tx1"/>
                </a:solidFill>
              </a:rPr>
              <a:t>시간당 강연료 비교 (만 원)</a:t>
            </a:r>
            <a:endParaRPr lang="en-US" sz="1800" dirty="0"/>
          </a:p>
        </p:txBody>
      </p:sp>
      <p:graphicFrame>
        <p:nvGraphicFramePr>
          <p:cNvPr id="13" name="Chart 0"/>
          <p:cNvGraphicFramePr/>
          <p:nvPr/>
        </p:nvGraphicFramePr>
        <p:xfrm>
          <a:off x="5806440" y="2103120"/>
          <a:ext cx="557784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차트 각주"/>
          <p:cNvSpPr txBox="1"/>
          <p:nvPr/>
        </p:nvSpPr>
        <p:spPr>
          <a:xfrm>
            <a:off x="5897880" y="5669280"/>
            <a:ext cx="5486400" cy="457200"/>
          </a:xfrm>
          <a:prstGeom prst="rect">
            <a:avLst/>
          </a:prstGeom>
          <a:noFill/>
          <a:ln/>
        </p:spPr>
        <p:txBody>
          <a:bodyPr wrap="square" lIns="0" tIns="0" rIns="0" bIns="0" rtlCol="0" anchor="t"/>
          <a:lstStyle/>
          <a:p>
            <a:pPr marL="0" indent="0">
              <a:buNone/>
            </a:pPr>
            <a:r>
              <a:rPr lang="en-US" sz="1100" dirty="0">
                <a:solidFill>
                  <a:schemeClr val="tx2"/>
                </a:solidFill>
              </a:rPr>
              <a:t>※ 방송 출연 셀럽은 50~100만 원 이상(최저치로 표기)</a:t>
            </a:r>
            <a:endParaRPr lang="en-US" sz="1100" dirty="0"/>
          </a:p>
          <a:p>
            <a:pPr marL="0" indent="0">
              <a:buNone/>
            </a:pPr>
            <a:r>
              <a:rPr lang="en-US" sz="1100" dirty="0">
                <a:solidFill>
                  <a:schemeClr val="tx2"/>
                </a:solidFill>
              </a:rPr>
              <a:t>자료: KCST 설립 배경 및 핵심 사업 방향</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IDENTITY &amp; VISION</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KCST의 목적과 정체성</a:t>
            </a:r>
            <a:endParaRPr lang="en-US" sz="3200" dirty="0"/>
          </a:p>
        </p:txBody>
      </p:sp>
      <p:sp>
        <p:nvSpPr>
          <p:cNvPr id="4" name="목적 배너"/>
          <p:cNvSpPr/>
          <p:nvPr/>
        </p:nvSpPr>
        <p:spPr>
          <a:xfrm>
            <a:off x="548640" y="1463040"/>
            <a:ext cx="11094415" cy="1508760"/>
          </a:xfrm>
          <a:prstGeom prst="roundRect">
            <a:avLst>
              <a:gd name="adj" fmla="val 7273"/>
            </a:avLst>
          </a:prstGeom>
          <a:solidFill>
            <a:schemeClr val="tx1"/>
          </a:solidFill>
          <a:ln/>
        </p:spPr>
      </p:sp>
      <p:sp>
        <p:nvSpPr>
          <p:cNvPr id="5" name="목적 라벨"/>
          <p:cNvSpPr txBox="1"/>
          <p:nvPr/>
        </p:nvSpPr>
        <p:spPr>
          <a:xfrm>
            <a:off x="960120" y="1627632"/>
            <a:ext cx="45720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목적 (정관 제1조)</a:t>
            </a:r>
            <a:endParaRPr lang="en-US" sz="1200" dirty="0"/>
          </a:p>
        </p:txBody>
      </p:sp>
      <p:sp>
        <p:nvSpPr>
          <p:cNvPr id="6" name="목적 문구"/>
          <p:cNvSpPr txBox="1"/>
          <p:nvPr/>
        </p:nvSpPr>
        <p:spPr>
          <a:xfrm>
            <a:off x="960120" y="1965960"/>
            <a:ext cx="10271455" cy="914400"/>
          </a:xfrm>
          <a:prstGeom prst="rect">
            <a:avLst/>
          </a:prstGeom>
          <a:noFill/>
          <a:ln/>
        </p:spPr>
        <p:txBody>
          <a:bodyPr wrap="square" lIns="0" tIns="0" rIns="0" bIns="0" rtlCol="0" anchor="t"/>
          <a:lstStyle/>
          <a:p>
            <a:pPr marL="0" indent="0">
              <a:buNone/>
            </a:pPr>
            <a:r>
              <a:rPr lang="en-US" sz="2000" b="1" dirty="0">
                <a:solidFill>
                  <a:schemeClr val="bg1"/>
                </a:solidFill>
              </a:rPr>
              <a:t>과학기술과 사회의 상호작용을 연구하고, 소통·교육과 전문인력 양성으로 국민의 과학적 소양을 높여 ‘인류 모두를 위한 과학기술사회’를 구현합니다</a:t>
            </a:r>
            <a:endParaRPr lang="en-US" sz="2000" dirty="0"/>
          </a:p>
        </p:txBody>
      </p:sp>
      <p:sp>
        <p:nvSpPr>
          <p:cNvPr id="7" name="기둥 카드 1"/>
          <p:cNvSpPr/>
          <p:nvPr/>
        </p:nvSpPr>
        <p:spPr>
          <a:xfrm>
            <a:off x="548640" y="3200400"/>
            <a:ext cx="3520440" cy="2148840"/>
          </a:xfrm>
          <a:prstGeom prst="roundRect">
            <a:avLst>
              <a:gd name="adj" fmla="val 5106"/>
            </a:avLst>
          </a:prstGeom>
          <a:solidFill>
            <a:schemeClr val="bg2"/>
          </a:solidFill>
          <a:ln/>
        </p:spPr>
      </p:sp>
      <p:sp>
        <p:nvSpPr>
          <p:cNvPr id="8" name="연구·학술 배경"/>
          <p:cNvSpPr/>
          <p:nvPr/>
        </p:nvSpPr>
        <p:spPr>
          <a:xfrm>
            <a:off x="822960" y="3401568"/>
            <a:ext cx="685800" cy="685800"/>
          </a:xfrm>
          <a:prstGeom prst="ellipse">
            <a:avLst/>
          </a:prstGeom>
          <a:solidFill>
            <a:schemeClr val="accent1"/>
          </a:solidFill>
          <a:ln/>
        </p:spPr>
      </p:sp>
      <p:pic>
        <p:nvPicPr>
          <p:cNvPr id="9" name="연구·학술 아이콘" descr="FaMicroscope"/>
          <p:cNvPicPr>
            <a:picLocks noChangeAspect="1"/>
          </p:cNvPicPr>
          <p:nvPr/>
        </p:nvPicPr>
        <p:blipFill>
          <a:blip r:embed="rId3"/>
          <a:stretch>
            <a:fillRect/>
          </a:stretch>
        </p:blipFill>
        <p:spPr>
          <a:xfrm>
            <a:off x="1001268" y="3579876"/>
            <a:ext cx="329184" cy="329184"/>
          </a:xfrm>
          <a:prstGeom prst="rect">
            <a:avLst/>
          </a:prstGeom>
        </p:spPr>
      </p:pic>
      <p:sp>
        <p:nvSpPr>
          <p:cNvPr id="10" name="기둥 제목 1"/>
          <p:cNvSpPr txBox="1"/>
          <p:nvPr/>
        </p:nvSpPr>
        <p:spPr>
          <a:xfrm>
            <a:off x="1691640" y="3401568"/>
            <a:ext cx="2194560" cy="685800"/>
          </a:xfrm>
          <a:prstGeom prst="rect">
            <a:avLst/>
          </a:prstGeom>
          <a:noFill/>
          <a:ln/>
        </p:spPr>
        <p:txBody>
          <a:bodyPr wrap="square" lIns="0" tIns="0" rIns="0" bIns="0" rtlCol="0" anchor="ctr"/>
          <a:lstStyle/>
          <a:p>
            <a:pPr marL="0" indent="0">
              <a:buNone/>
            </a:pPr>
            <a:r>
              <a:rPr lang="en-US" sz="1800" b="1" dirty="0">
                <a:solidFill>
                  <a:schemeClr val="tx1"/>
                </a:solidFill>
              </a:rPr>
              <a:t>연구·학술</a:t>
            </a:r>
            <a:endParaRPr lang="en-US" sz="1800" dirty="0"/>
          </a:p>
        </p:txBody>
      </p:sp>
      <p:sp>
        <p:nvSpPr>
          <p:cNvPr id="11" name="기둥 설명 1"/>
          <p:cNvSpPr txBox="1"/>
          <p:nvPr/>
        </p:nvSpPr>
        <p:spPr>
          <a:xfrm>
            <a:off x="822960" y="4251960"/>
            <a:ext cx="3017520" cy="1005840"/>
          </a:xfrm>
          <a:prstGeom prst="rect">
            <a:avLst/>
          </a:prstGeom>
          <a:noFill/>
          <a:ln/>
        </p:spPr>
        <p:txBody>
          <a:bodyPr wrap="square" lIns="0" tIns="0" rIns="0" bIns="0" rtlCol="0" anchor="t"/>
          <a:lstStyle/>
          <a:p>
            <a:pPr marL="0" indent="0">
              <a:buNone/>
            </a:pPr>
            <a:r>
              <a:rPr lang="en-US" sz="1400" dirty="0">
                <a:solidFill>
                  <a:schemeClr val="tx2"/>
                </a:solidFill>
              </a:rPr>
              <a:t>다학제적 연구와 학술대회·학술지로 과학소통의 학문적 기반을 만듭니다</a:t>
            </a:r>
            <a:endParaRPr lang="en-US" sz="1400" dirty="0"/>
          </a:p>
        </p:txBody>
      </p:sp>
      <p:sp>
        <p:nvSpPr>
          <p:cNvPr id="12" name="기둥 카드 2"/>
          <p:cNvSpPr/>
          <p:nvPr/>
        </p:nvSpPr>
        <p:spPr>
          <a:xfrm>
            <a:off x="4334256" y="3200400"/>
            <a:ext cx="3520440" cy="2148840"/>
          </a:xfrm>
          <a:prstGeom prst="roundRect">
            <a:avLst>
              <a:gd name="adj" fmla="val 5106"/>
            </a:avLst>
          </a:prstGeom>
          <a:solidFill>
            <a:schemeClr val="bg2"/>
          </a:solidFill>
          <a:ln/>
        </p:spPr>
      </p:sp>
      <p:sp>
        <p:nvSpPr>
          <p:cNvPr id="13" name="소통·교육·인증 배경"/>
          <p:cNvSpPr/>
          <p:nvPr/>
        </p:nvSpPr>
        <p:spPr>
          <a:xfrm>
            <a:off x="4608576" y="3401568"/>
            <a:ext cx="685800" cy="685800"/>
          </a:xfrm>
          <a:prstGeom prst="ellipse">
            <a:avLst/>
          </a:prstGeom>
          <a:solidFill>
            <a:schemeClr val="accent1"/>
          </a:solidFill>
          <a:ln/>
        </p:spPr>
      </p:sp>
      <p:pic>
        <p:nvPicPr>
          <p:cNvPr id="14" name="소통·교육·인증 아이콘" descr="FaChalkboardTeacher"/>
          <p:cNvPicPr>
            <a:picLocks noChangeAspect="1"/>
          </p:cNvPicPr>
          <p:nvPr/>
        </p:nvPicPr>
        <p:blipFill>
          <a:blip r:embed="rId4"/>
          <a:stretch>
            <a:fillRect/>
          </a:stretch>
        </p:blipFill>
        <p:spPr>
          <a:xfrm>
            <a:off x="4786884" y="3579876"/>
            <a:ext cx="329184" cy="329184"/>
          </a:xfrm>
          <a:prstGeom prst="rect">
            <a:avLst/>
          </a:prstGeom>
        </p:spPr>
      </p:pic>
      <p:sp>
        <p:nvSpPr>
          <p:cNvPr id="15" name="기둥 제목 2"/>
          <p:cNvSpPr txBox="1"/>
          <p:nvPr/>
        </p:nvSpPr>
        <p:spPr>
          <a:xfrm>
            <a:off x="5477256" y="3401568"/>
            <a:ext cx="2194560" cy="685800"/>
          </a:xfrm>
          <a:prstGeom prst="rect">
            <a:avLst/>
          </a:prstGeom>
          <a:noFill/>
          <a:ln/>
        </p:spPr>
        <p:txBody>
          <a:bodyPr wrap="square" lIns="0" tIns="0" rIns="0" bIns="0" rtlCol="0" anchor="ctr"/>
          <a:lstStyle/>
          <a:p>
            <a:pPr marL="0" indent="0">
              <a:buNone/>
            </a:pPr>
            <a:r>
              <a:rPr lang="en-US" sz="1800" b="1" dirty="0">
                <a:solidFill>
                  <a:schemeClr val="tx1"/>
                </a:solidFill>
              </a:rPr>
              <a:t>소통·교육·인증</a:t>
            </a:r>
            <a:endParaRPr lang="en-US" sz="1800" dirty="0"/>
          </a:p>
        </p:txBody>
      </p:sp>
      <p:sp>
        <p:nvSpPr>
          <p:cNvPr id="16" name="기둥 설명 2"/>
          <p:cNvSpPr txBox="1"/>
          <p:nvPr/>
        </p:nvSpPr>
        <p:spPr>
          <a:xfrm>
            <a:off x="4608576" y="4251960"/>
            <a:ext cx="3017520" cy="1005840"/>
          </a:xfrm>
          <a:prstGeom prst="rect">
            <a:avLst/>
          </a:prstGeom>
          <a:noFill/>
          <a:ln/>
        </p:spPr>
        <p:txBody>
          <a:bodyPr wrap="square" lIns="0" tIns="0" rIns="0" bIns="0" rtlCol="0" anchor="t"/>
          <a:lstStyle/>
          <a:p>
            <a:pPr marL="0" indent="0">
              <a:buNone/>
            </a:pPr>
            <a:r>
              <a:rPr lang="en-US" sz="1400" dirty="0">
                <a:solidFill>
                  <a:schemeClr val="tx2"/>
                </a:solidFill>
              </a:rPr>
              <a:t>과학소통 교육을 확대하고 전문인력을 양성·인증합니다</a:t>
            </a:r>
            <a:endParaRPr lang="en-US" sz="1400" dirty="0"/>
          </a:p>
        </p:txBody>
      </p:sp>
      <p:sp>
        <p:nvSpPr>
          <p:cNvPr id="17" name="기둥 카드 3"/>
          <p:cNvSpPr/>
          <p:nvPr/>
        </p:nvSpPr>
        <p:spPr>
          <a:xfrm>
            <a:off x="8119872" y="3200400"/>
            <a:ext cx="3520440" cy="2148840"/>
          </a:xfrm>
          <a:prstGeom prst="roundRect">
            <a:avLst>
              <a:gd name="adj" fmla="val 5106"/>
            </a:avLst>
          </a:prstGeom>
          <a:solidFill>
            <a:schemeClr val="bg2"/>
          </a:solidFill>
          <a:ln/>
        </p:spPr>
      </p:sp>
      <p:sp>
        <p:nvSpPr>
          <p:cNvPr id="18" name="연결·대변 배경"/>
          <p:cNvSpPr/>
          <p:nvPr/>
        </p:nvSpPr>
        <p:spPr>
          <a:xfrm>
            <a:off x="8394192" y="3401568"/>
            <a:ext cx="685800" cy="685800"/>
          </a:xfrm>
          <a:prstGeom prst="ellipse">
            <a:avLst/>
          </a:prstGeom>
          <a:solidFill>
            <a:schemeClr val="accent1"/>
          </a:solidFill>
          <a:ln/>
        </p:spPr>
      </p:sp>
      <p:pic>
        <p:nvPicPr>
          <p:cNvPr id="19" name="연결·대변 아이콘" descr="FaHandshake"/>
          <p:cNvPicPr>
            <a:picLocks noChangeAspect="1"/>
          </p:cNvPicPr>
          <p:nvPr/>
        </p:nvPicPr>
        <p:blipFill>
          <a:blip r:embed="rId5"/>
          <a:stretch>
            <a:fillRect/>
          </a:stretch>
        </p:blipFill>
        <p:spPr>
          <a:xfrm>
            <a:off x="8572500" y="3579876"/>
            <a:ext cx="329184" cy="329184"/>
          </a:xfrm>
          <a:prstGeom prst="rect">
            <a:avLst/>
          </a:prstGeom>
        </p:spPr>
      </p:pic>
      <p:sp>
        <p:nvSpPr>
          <p:cNvPr id="20" name="기둥 제목 3"/>
          <p:cNvSpPr txBox="1"/>
          <p:nvPr/>
        </p:nvSpPr>
        <p:spPr>
          <a:xfrm>
            <a:off x="9262872" y="3401568"/>
            <a:ext cx="2194560" cy="685800"/>
          </a:xfrm>
          <a:prstGeom prst="rect">
            <a:avLst/>
          </a:prstGeom>
          <a:noFill/>
          <a:ln/>
        </p:spPr>
        <p:txBody>
          <a:bodyPr wrap="square" lIns="0" tIns="0" rIns="0" bIns="0" rtlCol="0" anchor="ctr"/>
          <a:lstStyle/>
          <a:p>
            <a:pPr marL="0" indent="0">
              <a:buNone/>
            </a:pPr>
            <a:r>
              <a:rPr lang="en-US" sz="1800" b="1" dirty="0">
                <a:solidFill>
                  <a:schemeClr val="tx1"/>
                </a:solidFill>
              </a:rPr>
              <a:t>연결·대변</a:t>
            </a:r>
            <a:endParaRPr lang="en-US" sz="1800" dirty="0"/>
          </a:p>
        </p:txBody>
      </p:sp>
      <p:sp>
        <p:nvSpPr>
          <p:cNvPr id="21" name="기둥 설명 3"/>
          <p:cNvSpPr txBox="1"/>
          <p:nvPr/>
        </p:nvSpPr>
        <p:spPr>
          <a:xfrm>
            <a:off x="8394192" y="4251960"/>
            <a:ext cx="3017520" cy="1005840"/>
          </a:xfrm>
          <a:prstGeom prst="rect">
            <a:avLst/>
          </a:prstGeom>
          <a:noFill/>
          <a:ln/>
        </p:spPr>
        <p:txBody>
          <a:bodyPr wrap="square" lIns="0" tIns="0" rIns="0" bIns="0" rtlCol="0" anchor="t"/>
          <a:lstStyle/>
          <a:p>
            <a:pPr marL="0" indent="0">
              <a:buNone/>
            </a:pPr>
            <a:r>
              <a:rPr lang="en-US" sz="1400" dirty="0">
                <a:solidFill>
                  <a:schemeClr val="tx2"/>
                </a:solidFill>
              </a:rPr>
              <a:t>현장 활동가의 목소리를 대변하고 한국을 세계 과학소통 네트워크와 잇습니다</a:t>
            </a:r>
            <a:endParaRPr lang="en-US" sz="1400" dirty="0"/>
          </a:p>
        </p:txBody>
      </p:sp>
      <p:sp>
        <p:nvSpPr>
          <p:cNvPr id="22" name="방향 띠"/>
          <p:cNvSpPr/>
          <p:nvPr/>
        </p:nvSpPr>
        <p:spPr>
          <a:xfrm>
            <a:off x="548640" y="5532120"/>
            <a:ext cx="11094415" cy="731520"/>
          </a:xfrm>
          <a:prstGeom prst="roundRect">
            <a:avLst>
              <a:gd name="adj" fmla="val 15000"/>
            </a:avLst>
          </a:prstGeom>
          <a:solidFill>
            <a:schemeClr val="bg2"/>
          </a:solidFill>
          <a:ln/>
        </p:spPr>
      </p:sp>
      <p:sp>
        <p:nvSpPr>
          <p:cNvPr id="23" name="방향 문구"/>
          <p:cNvSpPr txBox="1"/>
          <p:nvPr/>
        </p:nvSpPr>
        <p:spPr>
          <a:xfrm>
            <a:off x="914400" y="5532120"/>
            <a:ext cx="10362895" cy="731520"/>
          </a:xfrm>
          <a:prstGeom prst="rect">
            <a:avLst/>
          </a:prstGeom>
          <a:noFill/>
          <a:ln/>
        </p:spPr>
        <p:txBody>
          <a:bodyPr wrap="square" lIns="0" tIns="0" rIns="0" bIns="0" rtlCol="0" anchor="ctr"/>
          <a:lstStyle/>
          <a:p>
            <a:pPr marL="0" indent="0">
              <a:buNone/>
            </a:pPr>
            <a:r>
              <a:rPr lang="en-US" sz="1600" b="1" dirty="0">
                <a:solidFill>
                  <a:schemeClr val="tx1"/>
                </a:solidFill>
              </a:rPr>
              <a:t>한국형 과학소통 체계를 만들고, PCST Network 수준의 국제적 경쟁력을 갖춰 갑니다</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CORE DIRECTIONS</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핵심 사업 방향 4가지</a:t>
            </a:r>
            <a:endParaRPr lang="en-US" sz="3200" dirty="0"/>
          </a:p>
        </p:txBody>
      </p:sp>
      <p:sp>
        <p:nvSpPr>
          <p:cNvPr id="4" name="방향 카드 1"/>
          <p:cNvSpPr/>
          <p:nvPr/>
        </p:nvSpPr>
        <p:spPr>
          <a:xfrm>
            <a:off x="548640" y="1463040"/>
            <a:ext cx="5449824" cy="2331720"/>
          </a:xfrm>
          <a:prstGeom prst="roundRect">
            <a:avLst>
              <a:gd name="adj" fmla="val 4706"/>
            </a:avLst>
          </a:prstGeom>
          <a:solidFill>
            <a:schemeClr val="bg2"/>
          </a:solidFill>
          <a:ln/>
        </p:spPr>
      </p:sp>
      <p:sp>
        <p:nvSpPr>
          <p:cNvPr id="5" name="팩트 × 임팩트 협력 배경"/>
          <p:cNvSpPr/>
          <p:nvPr/>
        </p:nvSpPr>
        <p:spPr>
          <a:xfrm>
            <a:off x="868680" y="1828800"/>
            <a:ext cx="822960" cy="822960"/>
          </a:xfrm>
          <a:prstGeom prst="ellipse">
            <a:avLst/>
          </a:prstGeom>
          <a:solidFill>
            <a:schemeClr val="accent1"/>
          </a:solidFill>
          <a:ln/>
        </p:spPr>
      </p:sp>
      <p:pic>
        <p:nvPicPr>
          <p:cNvPr id="6" name="팩트 × 임팩트 협력 아이콘" descr="FaBalanceScale"/>
          <p:cNvPicPr>
            <a:picLocks noChangeAspect="1"/>
          </p:cNvPicPr>
          <p:nvPr/>
        </p:nvPicPr>
        <p:blipFill>
          <a:blip r:embed="rId3"/>
          <a:stretch>
            <a:fillRect/>
          </a:stretch>
        </p:blipFill>
        <p:spPr>
          <a:xfrm>
            <a:off x="1082650" y="2042770"/>
            <a:ext cx="395021" cy="395021"/>
          </a:xfrm>
          <a:prstGeom prst="rect">
            <a:avLst/>
          </a:prstGeom>
        </p:spPr>
      </p:pic>
      <p:sp>
        <p:nvSpPr>
          <p:cNvPr id="7" name="방향 제목 1"/>
          <p:cNvSpPr txBox="1"/>
          <p:nvPr/>
        </p:nvSpPr>
        <p:spPr>
          <a:xfrm>
            <a:off x="1965960" y="1828800"/>
            <a:ext cx="3749040" cy="457200"/>
          </a:xfrm>
          <a:prstGeom prst="rect">
            <a:avLst/>
          </a:prstGeom>
          <a:noFill/>
          <a:ln/>
        </p:spPr>
        <p:txBody>
          <a:bodyPr wrap="square" lIns="0" tIns="0" rIns="0" bIns="0" rtlCol="0" anchor="t"/>
          <a:lstStyle/>
          <a:p>
            <a:pPr marL="0" indent="0">
              <a:buNone/>
            </a:pPr>
            <a:r>
              <a:rPr lang="en-US" sz="1900" b="1" dirty="0">
                <a:solidFill>
                  <a:schemeClr val="tx1"/>
                </a:solidFill>
              </a:rPr>
              <a:t>팩트 × 임팩트 협력</a:t>
            </a:r>
            <a:endParaRPr lang="en-US" sz="1900" dirty="0"/>
          </a:p>
        </p:txBody>
      </p:sp>
      <p:sp>
        <p:nvSpPr>
          <p:cNvPr id="8" name="방향 설명 1"/>
          <p:cNvSpPr txBox="1"/>
          <p:nvPr/>
        </p:nvSpPr>
        <p:spPr>
          <a:xfrm>
            <a:off x="1965960" y="2359152"/>
            <a:ext cx="3794760" cy="1280160"/>
          </a:xfrm>
          <a:prstGeom prst="rect">
            <a:avLst/>
          </a:prstGeom>
          <a:noFill/>
          <a:ln/>
        </p:spPr>
        <p:txBody>
          <a:bodyPr wrap="square" lIns="0" tIns="0" rIns="0" bIns="0" rtlCol="0" anchor="t"/>
          <a:lstStyle/>
          <a:p>
            <a:pPr marL="0" indent="0">
              <a:buNone/>
            </a:pPr>
            <a:r>
              <a:rPr lang="en-US" sz="1400" dirty="0">
                <a:solidFill>
                  <a:schemeClr val="tx2"/>
                </a:solidFill>
              </a:rPr>
              <a:t>소통가와 전공 과학자가 교류하며 강연의 학문적 완성도와 대중 전달력을 함께 높입니다.</a:t>
            </a:r>
            <a:endParaRPr lang="en-US" sz="1400" dirty="0"/>
          </a:p>
        </p:txBody>
      </p:sp>
      <p:sp>
        <p:nvSpPr>
          <p:cNvPr id="9" name="방향 카드 2"/>
          <p:cNvSpPr/>
          <p:nvPr/>
        </p:nvSpPr>
        <p:spPr>
          <a:xfrm>
            <a:off x="6190488" y="1463040"/>
            <a:ext cx="5449824" cy="2331720"/>
          </a:xfrm>
          <a:prstGeom prst="roundRect">
            <a:avLst>
              <a:gd name="adj" fmla="val 4706"/>
            </a:avLst>
          </a:prstGeom>
          <a:solidFill>
            <a:schemeClr val="bg2"/>
          </a:solidFill>
          <a:ln/>
        </p:spPr>
      </p:sp>
      <p:sp>
        <p:nvSpPr>
          <p:cNvPr id="10" name="첨단기술의 사회적 공론화 배경"/>
          <p:cNvSpPr/>
          <p:nvPr/>
        </p:nvSpPr>
        <p:spPr>
          <a:xfrm>
            <a:off x="6510528" y="1828800"/>
            <a:ext cx="822960" cy="822960"/>
          </a:xfrm>
          <a:prstGeom prst="ellipse">
            <a:avLst/>
          </a:prstGeom>
          <a:solidFill>
            <a:schemeClr val="accent1"/>
          </a:solidFill>
          <a:ln/>
        </p:spPr>
      </p:sp>
      <p:pic>
        <p:nvPicPr>
          <p:cNvPr id="11" name="첨단기술의 사회적 공론화 아이콘" descr="FaComments"/>
          <p:cNvPicPr>
            <a:picLocks noChangeAspect="1"/>
          </p:cNvPicPr>
          <p:nvPr/>
        </p:nvPicPr>
        <p:blipFill>
          <a:blip r:embed="rId4"/>
          <a:stretch>
            <a:fillRect/>
          </a:stretch>
        </p:blipFill>
        <p:spPr>
          <a:xfrm>
            <a:off x="6724498" y="2042770"/>
            <a:ext cx="395021" cy="395021"/>
          </a:xfrm>
          <a:prstGeom prst="rect">
            <a:avLst/>
          </a:prstGeom>
        </p:spPr>
      </p:pic>
      <p:sp>
        <p:nvSpPr>
          <p:cNvPr id="12" name="방향 제목 2"/>
          <p:cNvSpPr txBox="1"/>
          <p:nvPr/>
        </p:nvSpPr>
        <p:spPr>
          <a:xfrm>
            <a:off x="7607808" y="1828800"/>
            <a:ext cx="3749040" cy="457200"/>
          </a:xfrm>
          <a:prstGeom prst="rect">
            <a:avLst/>
          </a:prstGeom>
          <a:noFill/>
          <a:ln/>
        </p:spPr>
        <p:txBody>
          <a:bodyPr wrap="square" lIns="0" tIns="0" rIns="0" bIns="0" rtlCol="0" anchor="t"/>
          <a:lstStyle/>
          <a:p>
            <a:pPr marL="0" indent="0">
              <a:buNone/>
            </a:pPr>
            <a:r>
              <a:rPr lang="en-US" sz="1900" b="1" dirty="0">
                <a:solidFill>
                  <a:schemeClr val="tx1"/>
                </a:solidFill>
              </a:rPr>
              <a:t>첨단기술의 사회적 공론화</a:t>
            </a:r>
            <a:endParaRPr lang="en-US" sz="1900" dirty="0"/>
          </a:p>
        </p:txBody>
      </p:sp>
      <p:sp>
        <p:nvSpPr>
          <p:cNvPr id="13" name="방향 설명 2"/>
          <p:cNvSpPr txBox="1"/>
          <p:nvPr/>
        </p:nvSpPr>
        <p:spPr>
          <a:xfrm>
            <a:off x="7607808" y="2359152"/>
            <a:ext cx="3794760" cy="1280160"/>
          </a:xfrm>
          <a:prstGeom prst="rect">
            <a:avLst/>
          </a:prstGeom>
          <a:noFill/>
          <a:ln/>
        </p:spPr>
        <p:txBody>
          <a:bodyPr wrap="square" lIns="0" tIns="0" rIns="0" bIns="0" rtlCol="0" anchor="t"/>
          <a:lstStyle/>
          <a:p>
            <a:pPr marL="0" indent="0">
              <a:buNone/>
            </a:pPr>
            <a:r>
              <a:rPr lang="en-US" sz="1400" dirty="0">
                <a:solidFill>
                  <a:schemeClr val="tx2"/>
                </a:solidFill>
              </a:rPr>
              <a:t>AI·에너지·환경·백신·식품 등 첨단기술의 순기능과 역기능을 정부·과학계·대중이 숙의합니다.</a:t>
            </a:r>
            <a:endParaRPr lang="en-US" sz="1400" dirty="0"/>
          </a:p>
        </p:txBody>
      </p:sp>
      <p:sp>
        <p:nvSpPr>
          <p:cNvPr id="14" name="방향 카드 3"/>
          <p:cNvSpPr/>
          <p:nvPr/>
        </p:nvSpPr>
        <p:spPr>
          <a:xfrm>
            <a:off x="548640" y="3931920"/>
            <a:ext cx="5449824" cy="2331720"/>
          </a:xfrm>
          <a:prstGeom prst="roundRect">
            <a:avLst>
              <a:gd name="adj" fmla="val 4706"/>
            </a:avLst>
          </a:prstGeom>
          <a:solidFill>
            <a:schemeClr val="bg2"/>
          </a:solidFill>
          <a:ln/>
        </p:spPr>
      </p:sp>
      <p:sp>
        <p:nvSpPr>
          <p:cNvPr id="15" name="세대를 잇는 과학소통 배경"/>
          <p:cNvSpPr/>
          <p:nvPr/>
        </p:nvSpPr>
        <p:spPr>
          <a:xfrm>
            <a:off x="868680" y="4297680"/>
            <a:ext cx="822960" cy="822960"/>
          </a:xfrm>
          <a:prstGeom prst="ellipse">
            <a:avLst/>
          </a:prstGeom>
          <a:solidFill>
            <a:schemeClr val="accent1"/>
          </a:solidFill>
          <a:ln/>
        </p:spPr>
      </p:sp>
      <p:pic>
        <p:nvPicPr>
          <p:cNvPr id="16" name="세대를 잇는 과학소통 아이콘" descr="FaUsers"/>
          <p:cNvPicPr>
            <a:picLocks noChangeAspect="1"/>
          </p:cNvPicPr>
          <p:nvPr/>
        </p:nvPicPr>
        <p:blipFill>
          <a:blip r:embed="rId5"/>
          <a:stretch>
            <a:fillRect/>
          </a:stretch>
        </p:blipFill>
        <p:spPr>
          <a:xfrm>
            <a:off x="1082650" y="4511650"/>
            <a:ext cx="395021" cy="395021"/>
          </a:xfrm>
          <a:prstGeom prst="rect">
            <a:avLst/>
          </a:prstGeom>
        </p:spPr>
      </p:pic>
      <p:sp>
        <p:nvSpPr>
          <p:cNvPr id="17" name="방향 제목 3"/>
          <p:cNvSpPr txBox="1"/>
          <p:nvPr/>
        </p:nvSpPr>
        <p:spPr>
          <a:xfrm>
            <a:off x="1965960" y="4297680"/>
            <a:ext cx="3749040" cy="457200"/>
          </a:xfrm>
          <a:prstGeom prst="rect">
            <a:avLst/>
          </a:prstGeom>
          <a:noFill/>
          <a:ln/>
        </p:spPr>
        <p:txBody>
          <a:bodyPr wrap="square" lIns="0" tIns="0" rIns="0" bIns="0" rtlCol="0" anchor="t"/>
          <a:lstStyle/>
          <a:p>
            <a:pPr marL="0" indent="0">
              <a:buNone/>
            </a:pPr>
            <a:r>
              <a:rPr lang="en-US" sz="1900" b="1" dirty="0">
                <a:solidFill>
                  <a:schemeClr val="tx1"/>
                </a:solidFill>
              </a:rPr>
              <a:t>세대를 잇는 과학소통</a:t>
            </a:r>
            <a:endParaRPr lang="en-US" sz="1900" dirty="0"/>
          </a:p>
        </p:txBody>
      </p:sp>
      <p:sp>
        <p:nvSpPr>
          <p:cNvPr id="18" name="방향 설명 3"/>
          <p:cNvSpPr txBox="1"/>
          <p:nvPr/>
        </p:nvSpPr>
        <p:spPr>
          <a:xfrm>
            <a:off x="1965960" y="4828032"/>
            <a:ext cx="3794760" cy="1280160"/>
          </a:xfrm>
          <a:prstGeom prst="rect">
            <a:avLst/>
          </a:prstGeom>
          <a:noFill/>
          <a:ln/>
        </p:spPr>
        <p:txBody>
          <a:bodyPr wrap="square" lIns="0" tIns="0" rIns="0" bIns="0" rtlCol="0" anchor="t"/>
          <a:lstStyle/>
          <a:p>
            <a:pPr marL="0" indent="0">
              <a:buNone/>
            </a:pPr>
            <a:r>
              <a:rPr lang="en-US" sz="1400" dirty="0">
                <a:solidFill>
                  <a:schemeClr val="tx2"/>
                </a:solidFill>
              </a:rPr>
              <a:t>은퇴·고경력 과학기술인의 노하우를 젊은 과학기술인과 연결해 시너지를 만듭니다.</a:t>
            </a:r>
            <a:endParaRPr lang="en-US" sz="1400" dirty="0"/>
          </a:p>
        </p:txBody>
      </p:sp>
      <p:sp>
        <p:nvSpPr>
          <p:cNvPr id="19" name="방향 카드 4"/>
          <p:cNvSpPr/>
          <p:nvPr/>
        </p:nvSpPr>
        <p:spPr>
          <a:xfrm>
            <a:off x="6190488" y="3931920"/>
            <a:ext cx="5449824" cy="2331720"/>
          </a:xfrm>
          <a:prstGeom prst="roundRect">
            <a:avLst>
              <a:gd name="adj" fmla="val 4706"/>
            </a:avLst>
          </a:prstGeom>
          <a:solidFill>
            <a:schemeClr val="bg2"/>
          </a:solidFill>
          <a:ln/>
        </p:spPr>
      </p:sp>
      <p:sp>
        <p:nvSpPr>
          <p:cNvPr id="20" name="한국형 과학자본 모델 배경"/>
          <p:cNvSpPr/>
          <p:nvPr/>
        </p:nvSpPr>
        <p:spPr>
          <a:xfrm>
            <a:off x="6510528" y="4297680"/>
            <a:ext cx="822960" cy="822960"/>
          </a:xfrm>
          <a:prstGeom prst="ellipse">
            <a:avLst/>
          </a:prstGeom>
          <a:solidFill>
            <a:schemeClr val="accent1"/>
          </a:solidFill>
          <a:ln/>
        </p:spPr>
      </p:sp>
      <p:pic>
        <p:nvPicPr>
          <p:cNvPr id="21" name="한국형 과학자본 모델 아이콘" descr="FaSeedling"/>
          <p:cNvPicPr>
            <a:picLocks noChangeAspect="1"/>
          </p:cNvPicPr>
          <p:nvPr/>
        </p:nvPicPr>
        <p:blipFill>
          <a:blip r:embed="rId6"/>
          <a:stretch>
            <a:fillRect/>
          </a:stretch>
        </p:blipFill>
        <p:spPr>
          <a:xfrm>
            <a:off x="6724498" y="4511650"/>
            <a:ext cx="395021" cy="395021"/>
          </a:xfrm>
          <a:prstGeom prst="rect">
            <a:avLst/>
          </a:prstGeom>
        </p:spPr>
      </p:pic>
      <p:sp>
        <p:nvSpPr>
          <p:cNvPr id="22" name="방향 제목 4"/>
          <p:cNvSpPr txBox="1"/>
          <p:nvPr/>
        </p:nvSpPr>
        <p:spPr>
          <a:xfrm>
            <a:off x="7607808" y="4297680"/>
            <a:ext cx="3749040" cy="457200"/>
          </a:xfrm>
          <a:prstGeom prst="rect">
            <a:avLst/>
          </a:prstGeom>
          <a:noFill/>
          <a:ln/>
        </p:spPr>
        <p:txBody>
          <a:bodyPr wrap="square" lIns="0" tIns="0" rIns="0" bIns="0" rtlCol="0" anchor="t"/>
          <a:lstStyle/>
          <a:p>
            <a:pPr marL="0" indent="0">
              <a:buNone/>
            </a:pPr>
            <a:r>
              <a:rPr lang="en-US" sz="1900" b="1" dirty="0">
                <a:solidFill>
                  <a:schemeClr val="tx1"/>
                </a:solidFill>
              </a:rPr>
              <a:t>한국형 과학자본 모델</a:t>
            </a:r>
            <a:endParaRPr lang="en-US" sz="1900" dirty="0"/>
          </a:p>
        </p:txBody>
      </p:sp>
      <p:sp>
        <p:nvSpPr>
          <p:cNvPr id="23" name="방향 설명 4"/>
          <p:cNvSpPr txBox="1"/>
          <p:nvPr/>
        </p:nvSpPr>
        <p:spPr>
          <a:xfrm>
            <a:off x="7607808" y="4828032"/>
            <a:ext cx="3794760" cy="1280160"/>
          </a:xfrm>
          <a:prstGeom prst="rect">
            <a:avLst/>
          </a:prstGeom>
          <a:noFill/>
          <a:ln/>
        </p:spPr>
        <p:txBody>
          <a:bodyPr wrap="square" lIns="0" tIns="0" rIns="0" bIns="0" rtlCol="0" anchor="t"/>
          <a:lstStyle/>
          <a:p>
            <a:pPr marL="0" indent="0">
              <a:buNone/>
            </a:pPr>
            <a:r>
              <a:rPr lang="en-US" sz="1400" dirty="0">
                <a:solidFill>
                  <a:schemeClr val="tx2"/>
                </a:solidFill>
              </a:rPr>
              <a:t>출연연의 소통 마인드, 과학관의 성인 대상 콘텐츠, 민간 과학카페·책방의 지속 가능성을 함께 키웁니다.</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ANNUAL CONFERENCE</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정기 학술대회 6대 세션</a:t>
            </a:r>
            <a:endParaRPr lang="en-US" sz="3200" dirty="0"/>
          </a:p>
        </p:txBody>
      </p:sp>
      <p:sp>
        <p:nvSpPr>
          <p:cNvPr id="4" name="세션 카드 1"/>
          <p:cNvSpPr/>
          <p:nvPr/>
        </p:nvSpPr>
        <p:spPr>
          <a:xfrm>
            <a:off x="548640" y="1463040"/>
            <a:ext cx="3593592" cy="2011680"/>
          </a:xfrm>
          <a:prstGeom prst="roundRect">
            <a:avLst>
              <a:gd name="adj" fmla="val 5455"/>
            </a:avLst>
          </a:prstGeom>
          <a:solidFill>
            <a:schemeClr val="bg2"/>
          </a:solidFill>
          <a:ln/>
        </p:spPr>
      </p:sp>
      <p:sp>
        <p:nvSpPr>
          <p:cNvPr id="5" name="글로벌·학술 배경"/>
          <p:cNvSpPr/>
          <p:nvPr/>
        </p:nvSpPr>
        <p:spPr>
          <a:xfrm>
            <a:off x="822960" y="1719072"/>
            <a:ext cx="594360" cy="594360"/>
          </a:xfrm>
          <a:prstGeom prst="ellipse">
            <a:avLst/>
          </a:prstGeom>
          <a:solidFill>
            <a:schemeClr val="accent1"/>
          </a:solidFill>
          <a:ln/>
        </p:spPr>
      </p:sp>
      <p:pic>
        <p:nvPicPr>
          <p:cNvPr id="6" name="글로벌·학술 아이콘" descr="FaGlobeAsia"/>
          <p:cNvPicPr>
            <a:picLocks noChangeAspect="1"/>
          </p:cNvPicPr>
          <p:nvPr/>
        </p:nvPicPr>
        <p:blipFill>
          <a:blip r:embed="rId3"/>
          <a:stretch>
            <a:fillRect/>
          </a:stretch>
        </p:blipFill>
        <p:spPr>
          <a:xfrm>
            <a:off x="977494" y="1873606"/>
            <a:ext cx="285293" cy="285293"/>
          </a:xfrm>
          <a:prstGeom prst="rect">
            <a:avLst/>
          </a:prstGeom>
        </p:spPr>
      </p:pic>
      <p:sp>
        <p:nvSpPr>
          <p:cNvPr id="7" name="세션 제목 1"/>
          <p:cNvSpPr txBox="1"/>
          <p:nvPr/>
        </p:nvSpPr>
        <p:spPr>
          <a:xfrm>
            <a:off x="1600200" y="171907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글로벌·학술</a:t>
            </a:r>
            <a:endParaRPr lang="en-US" sz="1600" dirty="0"/>
          </a:p>
        </p:txBody>
      </p:sp>
      <p:sp>
        <p:nvSpPr>
          <p:cNvPr id="8" name="세션 설명 1"/>
          <p:cNvSpPr txBox="1"/>
          <p:nvPr/>
        </p:nvSpPr>
        <p:spPr>
          <a:xfrm>
            <a:off x="822960" y="2468880"/>
            <a:ext cx="3063240" cy="914400"/>
          </a:xfrm>
          <a:prstGeom prst="rect">
            <a:avLst/>
          </a:prstGeom>
          <a:noFill/>
          <a:ln/>
        </p:spPr>
        <p:txBody>
          <a:bodyPr wrap="square" lIns="0" tIns="0" rIns="0" bIns="0" rtlCol="0" anchor="t"/>
          <a:lstStyle/>
          <a:p>
            <a:pPr marL="0" indent="0">
              <a:buNone/>
            </a:pPr>
            <a:r>
              <a:rPr lang="en-US" sz="1400" dirty="0">
                <a:solidFill>
                  <a:schemeClr val="tx2"/>
                </a:solidFill>
              </a:rPr>
              <a:t>PCST Asia 해외 대표와 국내 학자가 세계 트렌드를 논의 (비중 30% 이내)</a:t>
            </a:r>
            <a:endParaRPr lang="en-US" sz="1400" dirty="0"/>
          </a:p>
        </p:txBody>
      </p:sp>
      <p:sp>
        <p:nvSpPr>
          <p:cNvPr id="9" name="세션 카드 2"/>
          <p:cNvSpPr/>
          <p:nvPr/>
        </p:nvSpPr>
        <p:spPr>
          <a:xfrm>
            <a:off x="4297680" y="1463040"/>
            <a:ext cx="3593592" cy="2011680"/>
          </a:xfrm>
          <a:prstGeom prst="roundRect">
            <a:avLst>
              <a:gd name="adj" fmla="val 5455"/>
            </a:avLst>
          </a:prstGeom>
          <a:solidFill>
            <a:schemeClr val="bg2"/>
          </a:solidFill>
          <a:ln/>
        </p:spPr>
      </p:sp>
      <p:sp>
        <p:nvSpPr>
          <p:cNvPr id="10" name="커뮤니케이터·전문가 배경"/>
          <p:cNvSpPr/>
          <p:nvPr/>
        </p:nvSpPr>
        <p:spPr>
          <a:xfrm>
            <a:off x="4572000" y="1719072"/>
            <a:ext cx="594360" cy="594360"/>
          </a:xfrm>
          <a:prstGeom prst="ellipse">
            <a:avLst/>
          </a:prstGeom>
          <a:solidFill>
            <a:schemeClr val="accent1"/>
          </a:solidFill>
          <a:ln/>
        </p:spPr>
      </p:sp>
      <p:pic>
        <p:nvPicPr>
          <p:cNvPr id="11" name="커뮤니케이터·전문가 아이콘" descr="FaMicrophone"/>
          <p:cNvPicPr>
            <a:picLocks noChangeAspect="1"/>
          </p:cNvPicPr>
          <p:nvPr/>
        </p:nvPicPr>
        <p:blipFill>
          <a:blip r:embed="rId4"/>
          <a:stretch>
            <a:fillRect/>
          </a:stretch>
        </p:blipFill>
        <p:spPr>
          <a:xfrm>
            <a:off x="4726534" y="1873606"/>
            <a:ext cx="285293" cy="285293"/>
          </a:xfrm>
          <a:prstGeom prst="rect">
            <a:avLst/>
          </a:prstGeom>
        </p:spPr>
      </p:pic>
      <p:sp>
        <p:nvSpPr>
          <p:cNvPr id="12" name="세션 제목 2"/>
          <p:cNvSpPr txBox="1"/>
          <p:nvPr/>
        </p:nvSpPr>
        <p:spPr>
          <a:xfrm>
            <a:off x="5349240" y="171907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커뮤니케이터·전문가</a:t>
            </a:r>
            <a:endParaRPr lang="en-US" sz="1600" dirty="0"/>
          </a:p>
        </p:txBody>
      </p:sp>
      <p:sp>
        <p:nvSpPr>
          <p:cNvPr id="13" name="세션 설명 2"/>
          <p:cNvSpPr txBox="1"/>
          <p:nvPr/>
        </p:nvSpPr>
        <p:spPr>
          <a:xfrm>
            <a:off x="4572000" y="2468880"/>
            <a:ext cx="3063240" cy="914400"/>
          </a:xfrm>
          <a:prstGeom prst="rect">
            <a:avLst/>
          </a:prstGeom>
          <a:noFill/>
          <a:ln/>
        </p:spPr>
        <p:txBody>
          <a:bodyPr wrap="square" lIns="0" tIns="0" rIns="0" bIns="0" rtlCol="0" anchor="t"/>
          <a:lstStyle/>
          <a:p>
            <a:pPr marL="0" indent="0">
              <a:buNone/>
            </a:pPr>
            <a:r>
              <a:rPr lang="en-US" sz="1400" dirty="0">
                <a:solidFill>
                  <a:schemeClr val="tx2"/>
                </a:solidFill>
              </a:rPr>
              <a:t>전문가 앞에서 강연을 시연하며 오류를 검증하는 ‘팩트&amp;임팩트’ 자정 플랫폼</a:t>
            </a:r>
            <a:endParaRPr lang="en-US" sz="1400" dirty="0"/>
          </a:p>
        </p:txBody>
      </p:sp>
      <p:sp>
        <p:nvSpPr>
          <p:cNvPr id="14" name="세션 카드 3"/>
          <p:cNvSpPr/>
          <p:nvPr/>
        </p:nvSpPr>
        <p:spPr>
          <a:xfrm>
            <a:off x="8046720" y="1463040"/>
            <a:ext cx="3593592" cy="2011680"/>
          </a:xfrm>
          <a:prstGeom prst="roundRect">
            <a:avLst>
              <a:gd name="adj" fmla="val 5455"/>
            </a:avLst>
          </a:prstGeom>
          <a:solidFill>
            <a:schemeClr val="bg2"/>
          </a:solidFill>
          <a:ln/>
        </p:spPr>
      </p:sp>
      <p:sp>
        <p:nvSpPr>
          <p:cNvPr id="15" name="정부출연연구기관 배경"/>
          <p:cNvSpPr/>
          <p:nvPr/>
        </p:nvSpPr>
        <p:spPr>
          <a:xfrm>
            <a:off x="8321040" y="1719072"/>
            <a:ext cx="594360" cy="594360"/>
          </a:xfrm>
          <a:prstGeom prst="ellipse">
            <a:avLst/>
          </a:prstGeom>
          <a:solidFill>
            <a:schemeClr val="accent1"/>
          </a:solidFill>
          <a:ln/>
        </p:spPr>
      </p:sp>
      <p:pic>
        <p:nvPicPr>
          <p:cNvPr id="16" name="정부출연연구기관 아이콘" descr="FaLandmark"/>
          <p:cNvPicPr>
            <a:picLocks noChangeAspect="1"/>
          </p:cNvPicPr>
          <p:nvPr/>
        </p:nvPicPr>
        <p:blipFill>
          <a:blip r:embed="rId5"/>
          <a:stretch>
            <a:fillRect/>
          </a:stretch>
        </p:blipFill>
        <p:spPr>
          <a:xfrm>
            <a:off x="8475574" y="1873606"/>
            <a:ext cx="285293" cy="285293"/>
          </a:xfrm>
          <a:prstGeom prst="rect">
            <a:avLst/>
          </a:prstGeom>
        </p:spPr>
      </p:pic>
      <p:sp>
        <p:nvSpPr>
          <p:cNvPr id="17" name="세션 제목 3"/>
          <p:cNvSpPr txBox="1"/>
          <p:nvPr/>
        </p:nvSpPr>
        <p:spPr>
          <a:xfrm>
            <a:off x="9098280" y="171907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정부출연연구기관</a:t>
            </a:r>
            <a:endParaRPr lang="en-US" sz="1600" dirty="0"/>
          </a:p>
        </p:txBody>
      </p:sp>
      <p:sp>
        <p:nvSpPr>
          <p:cNvPr id="18" name="세션 설명 3"/>
          <p:cNvSpPr txBox="1"/>
          <p:nvPr/>
        </p:nvSpPr>
        <p:spPr>
          <a:xfrm>
            <a:off x="8321040" y="2468880"/>
            <a:ext cx="3063240" cy="914400"/>
          </a:xfrm>
          <a:prstGeom prst="rect">
            <a:avLst/>
          </a:prstGeom>
          <a:noFill/>
          <a:ln/>
        </p:spPr>
        <p:txBody>
          <a:bodyPr wrap="square" lIns="0" tIns="0" rIns="0" bIns="0" rtlCol="0" anchor="t"/>
          <a:lstStyle/>
          <a:p>
            <a:pPr marL="0" indent="0">
              <a:buNone/>
            </a:pPr>
            <a:r>
              <a:rPr lang="en-US" sz="1400" dirty="0">
                <a:solidFill>
                  <a:schemeClr val="tx2"/>
                </a:solidFill>
              </a:rPr>
              <a:t>기관 평가 대응을 넘어 실질적인 과학소통 역할을 찾는 전략 공유</a:t>
            </a:r>
            <a:endParaRPr lang="en-US" sz="1400" dirty="0"/>
          </a:p>
        </p:txBody>
      </p:sp>
      <p:sp>
        <p:nvSpPr>
          <p:cNvPr id="19" name="세션 카드 4"/>
          <p:cNvSpPr/>
          <p:nvPr/>
        </p:nvSpPr>
        <p:spPr>
          <a:xfrm>
            <a:off x="548640" y="3611880"/>
            <a:ext cx="3593592" cy="2011680"/>
          </a:xfrm>
          <a:prstGeom prst="roundRect">
            <a:avLst>
              <a:gd name="adj" fmla="val 5455"/>
            </a:avLst>
          </a:prstGeom>
          <a:solidFill>
            <a:schemeClr val="bg2"/>
          </a:solidFill>
          <a:ln/>
        </p:spPr>
      </p:sp>
      <p:sp>
        <p:nvSpPr>
          <p:cNvPr id="20" name="민간 소통 생태계 배경"/>
          <p:cNvSpPr/>
          <p:nvPr/>
        </p:nvSpPr>
        <p:spPr>
          <a:xfrm>
            <a:off x="822960" y="3867912"/>
            <a:ext cx="594360" cy="594360"/>
          </a:xfrm>
          <a:prstGeom prst="ellipse">
            <a:avLst/>
          </a:prstGeom>
          <a:solidFill>
            <a:schemeClr val="accent1"/>
          </a:solidFill>
          <a:ln/>
        </p:spPr>
      </p:sp>
      <p:pic>
        <p:nvPicPr>
          <p:cNvPr id="21" name="민간 소통 생태계 아이콘" descr="FaCoffee"/>
          <p:cNvPicPr>
            <a:picLocks noChangeAspect="1"/>
          </p:cNvPicPr>
          <p:nvPr/>
        </p:nvPicPr>
        <p:blipFill>
          <a:blip r:embed="rId6"/>
          <a:stretch>
            <a:fillRect/>
          </a:stretch>
        </p:blipFill>
        <p:spPr>
          <a:xfrm>
            <a:off x="977494" y="4022446"/>
            <a:ext cx="285293" cy="285293"/>
          </a:xfrm>
          <a:prstGeom prst="rect">
            <a:avLst/>
          </a:prstGeom>
        </p:spPr>
      </p:pic>
      <p:sp>
        <p:nvSpPr>
          <p:cNvPr id="22" name="세션 제목 4"/>
          <p:cNvSpPr txBox="1"/>
          <p:nvPr/>
        </p:nvSpPr>
        <p:spPr>
          <a:xfrm>
            <a:off x="1600200" y="386791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민간 소통 생태계</a:t>
            </a:r>
            <a:endParaRPr lang="en-US" sz="1600" dirty="0"/>
          </a:p>
        </p:txBody>
      </p:sp>
      <p:sp>
        <p:nvSpPr>
          <p:cNvPr id="23" name="세션 설명 4"/>
          <p:cNvSpPr txBox="1"/>
          <p:nvPr/>
        </p:nvSpPr>
        <p:spPr>
          <a:xfrm>
            <a:off x="822960" y="4617720"/>
            <a:ext cx="3063240" cy="914400"/>
          </a:xfrm>
          <a:prstGeom prst="rect">
            <a:avLst/>
          </a:prstGeom>
          <a:noFill/>
          <a:ln/>
        </p:spPr>
        <p:txBody>
          <a:bodyPr wrap="square" lIns="0" tIns="0" rIns="0" bIns="0" rtlCol="0" anchor="t"/>
          <a:lstStyle/>
          <a:p>
            <a:pPr marL="0" indent="0">
              <a:buNone/>
            </a:pPr>
            <a:r>
              <a:rPr lang="en-US" sz="1400" dirty="0">
                <a:solidFill>
                  <a:schemeClr val="tx2"/>
                </a:solidFill>
              </a:rPr>
              <a:t>과학카페·서점 등 자생적 과학자본의 지속 가능한 사업 모델 논의</a:t>
            </a:r>
            <a:endParaRPr lang="en-US" sz="1400" dirty="0"/>
          </a:p>
        </p:txBody>
      </p:sp>
      <p:sp>
        <p:nvSpPr>
          <p:cNvPr id="24" name="세션 카드 5"/>
          <p:cNvSpPr/>
          <p:nvPr/>
        </p:nvSpPr>
        <p:spPr>
          <a:xfrm>
            <a:off x="4297680" y="3611880"/>
            <a:ext cx="3593592" cy="2011680"/>
          </a:xfrm>
          <a:prstGeom prst="roundRect">
            <a:avLst>
              <a:gd name="adj" fmla="val 5455"/>
            </a:avLst>
          </a:prstGeom>
          <a:solidFill>
            <a:schemeClr val="bg2"/>
          </a:solidFill>
          <a:ln/>
        </p:spPr>
      </p:sp>
      <p:sp>
        <p:nvSpPr>
          <p:cNvPr id="25" name="과학관·공공 인프라 배경"/>
          <p:cNvSpPr/>
          <p:nvPr/>
        </p:nvSpPr>
        <p:spPr>
          <a:xfrm>
            <a:off x="4572000" y="3867912"/>
            <a:ext cx="594360" cy="594360"/>
          </a:xfrm>
          <a:prstGeom prst="ellipse">
            <a:avLst/>
          </a:prstGeom>
          <a:solidFill>
            <a:schemeClr val="accent1"/>
          </a:solidFill>
          <a:ln/>
        </p:spPr>
      </p:sp>
      <p:pic>
        <p:nvPicPr>
          <p:cNvPr id="26" name="과학관·공공 인프라 아이콘" descr="FaUniversity"/>
          <p:cNvPicPr>
            <a:picLocks noChangeAspect="1"/>
          </p:cNvPicPr>
          <p:nvPr/>
        </p:nvPicPr>
        <p:blipFill>
          <a:blip r:embed="rId7"/>
          <a:stretch>
            <a:fillRect/>
          </a:stretch>
        </p:blipFill>
        <p:spPr>
          <a:xfrm>
            <a:off x="4726534" y="4022446"/>
            <a:ext cx="285293" cy="285293"/>
          </a:xfrm>
          <a:prstGeom prst="rect">
            <a:avLst/>
          </a:prstGeom>
        </p:spPr>
      </p:pic>
      <p:sp>
        <p:nvSpPr>
          <p:cNvPr id="27" name="세션 제목 5"/>
          <p:cNvSpPr txBox="1"/>
          <p:nvPr/>
        </p:nvSpPr>
        <p:spPr>
          <a:xfrm>
            <a:off x="5349240" y="386791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과학관·공공 인프라</a:t>
            </a:r>
            <a:endParaRPr lang="en-US" sz="1600" dirty="0"/>
          </a:p>
        </p:txBody>
      </p:sp>
      <p:sp>
        <p:nvSpPr>
          <p:cNvPr id="28" name="세션 설명 5"/>
          <p:cNvSpPr txBox="1"/>
          <p:nvPr/>
        </p:nvSpPr>
        <p:spPr>
          <a:xfrm>
            <a:off x="4572000" y="4617720"/>
            <a:ext cx="3063240" cy="914400"/>
          </a:xfrm>
          <a:prstGeom prst="rect">
            <a:avLst/>
          </a:prstGeom>
          <a:noFill/>
          <a:ln/>
        </p:spPr>
        <p:txBody>
          <a:bodyPr wrap="square" lIns="0" tIns="0" rIns="0" bIns="0" rtlCol="0" anchor="t"/>
          <a:lstStyle/>
          <a:p>
            <a:pPr marL="0" indent="0">
              <a:buNone/>
            </a:pPr>
            <a:r>
              <a:rPr lang="en-US" sz="1400" dirty="0">
                <a:solidFill>
                  <a:schemeClr val="tx2"/>
                </a:solidFill>
              </a:rPr>
              <a:t>성인 대상 참여·토론형 콘텐츠와 학술 연계로 과학관 역량 강화</a:t>
            </a:r>
            <a:endParaRPr lang="en-US" sz="1400" dirty="0"/>
          </a:p>
        </p:txBody>
      </p:sp>
      <p:sp>
        <p:nvSpPr>
          <p:cNvPr id="29" name="세션 카드 6"/>
          <p:cNvSpPr/>
          <p:nvPr/>
        </p:nvSpPr>
        <p:spPr>
          <a:xfrm>
            <a:off x="8046720" y="3611880"/>
            <a:ext cx="3593592" cy="2011680"/>
          </a:xfrm>
          <a:prstGeom prst="roundRect">
            <a:avLst>
              <a:gd name="adj" fmla="val 5455"/>
            </a:avLst>
          </a:prstGeom>
          <a:solidFill>
            <a:schemeClr val="bg2"/>
          </a:solidFill>
          <a:ln/>
        </p:spPr>
      </p:sp>
      <p:sp>
        <p:nvSpPr>
          <p:cNvPr id="30" name="열린 세션 (Open Science) 배경"/>
          <p:cNvSpPr/>
          <p:nvPr/>
        </p:nvSpPr>
        <p:spPr>
          <a:xfrm>
            <a:off x="8321040" y="3867912"/>
            <a:ext cx="594360" cy="594360"/>
          </a:xfrm>
          <a:prstGeom prst="ellipse">
            <a:avLst/>
          </a:prstGeom>
          <a:solidFill>
            <a:schemeClr val="accent1"/>
          </a:solidFill>
          <a:ln/>
        </p:spPr>
      </p:sp>
      <p:pic>
        <p:nvPicPr>
          <p:cNvPr id="31" name="열린 세션 (Open Science) 아이콘" descr="FaDoorOpen"/>
          <p:cNvPicPr>
            <a:picLocks noChangeAspect="1"/>
          </p:cNvPicPr>
          <p:nvPr/>
        </p:nvPicPr>
        <p:blipFill>
          <a:blip r:embed="rId8"/>
          <a:stretch>
            <a:fillRect/>
          </a:stretch>
        </p:blipFill>
        <p:spPr>
          <a:xfrm>
            <a:off x="8475574" y="4022446"/>
            <a:ext cx="285293" cy="285293"/>
          </a:xfrm>
          <a:prstGeom prst="rect">
            <a:avLst/>
          </a:prstGeom>
        </p:spPr>
      </p:pic>
      <p:sp>
        <p:nvSpPr>
          <p:cNvPr id="32" name="세션 제목 6"/>
          <p:cNvSpPr txBox="1"/>
          <p:nvPr/>
        </p:nvSpPr>
        <p:spPr>
          <a:xfrm>
            <a:off x="9098280" y="3867912"/>
            <a:ext cx="2377440" cy="594360"/>
          </a:xfrm>
          <a:prstGeom prst="rect">
            <a:avLst/>
          </a:prstGeom>
          <a:noFill/>
          <a:ln/>
        </p:spPr>
        <p:txBody>
          <a:bodyPr wrap="square" lIns="0" tIns="0" rIns="0" bIns="0" rtlCol="0" anchor="ctr"/>
          <a:lstStyle/>
          <a:p>
            <a:pPr marL="0" indent="0">
              <a:buNone/>
            </a:pPr>
            <a:r>
              <a:rPr lang="en-US" sz="1600" b="1" dirty="0">
                <a:solidFill>
                  <a:schemeClr val="tx1"/>
                </a:solidFill>
              </a:rPr>
              <a:t>열린 세션 (Open Science)</a:t>
            </a:r>
            <a:endParaRPr lang="en-US" sz="1600" dirty="0"/>
          </a:p>
        </p:txBody>
      </p:sp>
      <p:sp>
        <p:nvSpPr>
          <p:cNvPr id="33" name="세션 설명 6"/>
          <p:cNvSpPr txBox="1"/>
          <p:nvPr/>
        </p:nvSpPr>
        <p:spPr>
          <a:xfrm>
            <a:off x="8321040" y="4617720"/>
            <a:ext cx="3063240" cy="914400"/>
          </a:xfrm>
          <a:prstGeom prst="rect">
            <a:avLst/>
          </a:prstGeom>
          <a:noFill/>
          <a:ln/>
        </p:spPr>
        <p:txBody>
          <a:bodyPr wrap="square" lIns="0" tIns="0" rIns="0" bIns="0" rtlCol="0" anchor="t"/>
          <a:lstStyle/>
          <a:p>
            <a:pPr marL="0" indent="0">
              <a:buNone/>
            </a:pPr>
            <a:r>
              <a:rPr lang="en-US" sz="1400" dirty="0">
                <a:solidFill>
                  <a:schemeClr val="tx2"/>
                </a:solidFill>
              </a:rPr>
              <a:t>비회원 시민에게 무료·최소 비용으로 개방, 시민 토론과 소통 오디션</a:t>
            </a:r>
            <a:endParaRPr lang="en-US" sz="1400" dirty="0"/>
          </a:p>
        </p:txBody>
      </p:sp>
      <p:sp>
        <p:nvSpPr>
          <p:cNvPr id="34" name="하단 각주"/>
          <p:cNvSpPr txBox="1"/>
          <p:nvPr/>
        </p:nvSpPr>
        <p:spPr>
          <a:xfrm>
            <a:off x="548640" y="5943600"/>
            <a:ext cx="11094415" cy="320040"/>
          </a:xfrm>
          <a:prstGeom prst="rect">
            <a:avLst/>
          </a:prstGeom>
          <a:noFill/>
          <a:ln/>
        </p:spPr>
        <p:txBody>
          <a:bodyPr wrap="square" lIns="0" tIns="0" rIns="0" bIns="0" rtlCol="0" anchor="t"/>
          <a:lstStyle/>
          <a:p>
            <a:pPr marL="0" indent="0">
              <a:buNone/>
            </a:pPr>
            <a:r>
              <a:rPr lang="en-US" sz="1200" dirty="0">
                <a:solidFill>
                  <a:schemeClr val="tx2"/>
                </a:solidFill>
              </a:rPr>
              <a:t>2027년부터 매년 6개 분야로 구성 · 창립 학술대회(2026.11)는 PCST Asia 대표자 회의와 연계</a:t>
            </a:r>
            <a:endParaRPr lang="en-US" sz="1200" dirty="0"/>
          </a:p>
        </p:txBody>
      </p:sp>
      <p:sp>
        <p:nvSpPr>
          <p:cNvPr id="3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WHAT WE DO</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학회가 하는 일</a:t>
            </a:r>
            <a:endParaRPr lang="en-US" sz="3200" dirty="0"/>
          </a:p>
        </p:txBody>
      </p:sp>
      <p:sp>
        <p:nvSpPr>
          <p:cNvPr id="4" name="좌측 패널"/>
          <p:cNvSpPr/>
          <p:nvPr/>
        </p:nvSpPr>
        <p:spPr>
          <a:xfrm>
            <a:off x="548640" y="1463040"/>
            <a:ext cx="3383280" cy="4800600"/>
          </a:xfrm>
          <a:prstGeom prst="roundRect">
            <a:avLst>
              <a:gd name="adj" fmla="val 3243"/>
            </a:avLst>
          </a:prstGeom>
          <a:solidFill>
            <a:schemeClr val="tx1"/>
          </a:solidFill>
          <a:ln/>
        </p:spPr>
      </p:sp>
      <p:sp>
        <p:nvSpPr>
          <p:cNvPr id="5" name="패널 라벨"/>
          <p:cNvSpPr txBox="1"/>
          <p:nvPr/>
        </p:nvSpPr>
        <p:spPr>
          <a:xfrm>
            <a:off x="914400" y="1783080"/>
            <a:ext cx="27432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정관 제4조</a:t>
            </a:r>
            <a:endParaRPr lang="en-US" sz="1200" dirty="0"/>
          </a:p>
        </p:txBody>
      </p:sp>
      <p:sp>
        <p:nvSpPr>
          <p:cNvPr id="6" name="패널 제목"/>
          <p:cNvSpPr txBox="1"/>
          <p:nvPr/>
        </p:nvSpPr>
        <p:spPr>
          <a:xfrm>
            <a:off x="914400" y="2194560"/>
            <a:ext cx="2697480" cy="1097280"/>
          </a:xfrm>
          <a:prstGeom prst="rect">
            <a:avLst/>
          </a:prstGeom>
          <a:noFill/>
          <a:ln/>
        </p:spPr>
        <p:txBody>
          <a:bodyPr wrap="square" lIns="0" tIns="0" rIns="0" bIns="0" rtlCol="0" anchor="t"/>
          <a:lstStyle/>
          <a:p>
            <a:pPr marL="0" indent="0">
              <a:buNone/>
            </a:pPr>
            <a:r>
              <a:rPr lang="en-US" sz="2600" b="1" dirty="0">
                <a:solidFill>
                  <a:schemeClr val="bg1"/>
                </a:solidFill>
              </a:rPr>
              <a:t>학술에서 교육·정책까지</a:t>
            </a:r>
            <a:endParaRPr lang="en-US" sz="2600" dirty="0"/>
          </a:p>
        </p:txBody>
      </p:sp>
      <p:sp>
        <p:nvSpPr>
          <p:cNvPr id="7" name="패널 설명"/>
          <p:cNvSpPr txBox="1"/>
          <p:nvPr/>
        </p:nvSpPr>
        <p:spPr>
          <a:xfrm>
            <a:off x="914400" y="3520440"/>
            <a:ext cx="2697480" cy="1371600"/>
          </a:xfrm>
          <a:prstGeom prst="rect">
            <a:avLst/>
          </a:prstGeom>
          <a:noFill/>
          <a:ln/>
        </p:spPr>
        <p:txBody>
          <a:bodyPr wrap="square" lIns="0" tIns="0" rIns="0" bIns="0" rtlCol="0" anchor="t"/>
          <a:lstStyle/>
          <a:p>
            <a:pPr marL="0" indent="0">
              <a:buNone/>
            </a:pPr>
            <a:r>
              <a:rPr lang="en-US" sz="1400" dirty="0">
                <a:solidFill>
                  <a:schemeClr val="accent6"/>
                </a:solidFill>
              </a:rPr>
              <a:t>학술대회와 학술지, 인증제, 전문인력 양성, 정책 자문까지 학회가 수행하는 핵심 사업입니다.</a:t>
            </a:r>
            <a:endParaRPr lang="en-US" sz="1400" dirty="0"/>
          </a:p>
        </p:txBody>
      </p:sp>
      <p:sp>
        <p:nvSpPr>
          <p:cNvPr id="8" name="패널 각주"/>
          <p:cNvSpPr txBox="1"/>
          <p:nvPr/>
        </p:nvSpPr>
        <p:spPr>
          <a:xfrm>
            <a:off x="914400" y="5166360"/>
            <a:ext cx="2697480" cy="822960"/>
          </a:xfrm>
          <a:prstGeom prst="rect">
            <a:avLst/>
          </a:prstGeom>
          <a:noFill/>
          <a:ln/>
        </p:spPr>
        <p:txBody>
          <a:bodyPr wrap="square" lIns="0" tIns="0" rIns="0" bIns="0" rtlCol="0" anchor="t"/>
          <a:lstStyle/>
          <a:p>
            <a:pPr marL="0" indent="0">
              <a:buNone/>
            </a:pPr>
            <a:r>
              <a:rPr lang="en-US" sz="1200" dirty="0">
                <a:solidFill>
                  <a:schemeClr val="accent6"/>
                </a:solidFill>
              </a:rPr>
              <a:t>이 밖에 사립 과학관 등 과학기술 시설의 설치·운영도 정관 사업에 포함됩니다.</a:t>
            </a:r>
            <a:endParaRPr lang="en-US" sz="1200" dirty="0"/>
          </a:p>
        </p:txBody>
      </p:sp>
      <p:sp>
        <p:nvSpPr>
          <p:cNvPr id="9" name="사업 카드 1"/>
          <p:cNvSpPr/>
          <p:nvPr/>
        </p:nvSpPr>
        <p:spPr>
          <a:xfrm>
            <a:off x="4114800" y="1463040"/>
            <a:ext cx="3639312" cy="1508760"/>
          </a:xfrm>
          <a:prstGeom prst="roundRect">
            <a:avLst>
              <a:gd name="adj" fmla="val 7273"/>
            </a:avLst>
          </a:prstGeom>
          <a:solidFill>
            <a:schemeClr val="bg2"/>
          </a:solidFill>
          <a:ln/>
        </p:spPr>
      </p:sp>
      <p:sp>
        <p:nvSpPr>
          <p:cNvPr id="10" name="학술대회·세미나 배경"/>
          <p:cNvSpPr/>
          <p:nvPr/>
        </p:nvSpPr>
        <p:spPr>
          <a:xfrm>
            <a:off x="4343400" y="1691640"/>
            <a:ext cx="594360" cy="594360"/>
          </a:xfrm>
          <a:prstGeom prst="ellipse">
            <a:avLst/>
          </a:prstGeom>
          <a:solidFill>
            <a:schemeClr val="accent1"/>
          </a:solidFill>
          <a:ln/>
        </p:spPr>
      </p:sp>
      <p:pic>
        <p:nvPicPr>
          <p:cNvPr id="11" name="학술대회·세미나 아이콘" descr="FaCalendarAlt"/>
          <p:cNvPicPr>
            <a:picLocks noChangeAspect="1"/>
          </p:cNvPicPr>
          <p:nvPr/>
        </p:nvPicPr>
        <p:blipFill>
          <a:blip r:embed="rId3"/>
          <a:stretch>
            <a:fillRect/>
          </a:stretch>
        </p:blipFill>
        <p:spPr>
          <a:xfrm>
            <a:off x="4497934" y="1846174"/>
            <a:ext cx="285293" cy="285293"/>
          </a:xfrm>
          <a:prstGeom prst="rect">
            <a:avLst/>
          </a:prstGeom>
        </p:spPr>
      </p:pic>
      <p:sp>
        <p:nvSpPr>
          <p:cNvPr id="12" name="사업 제목 1"/>
          <p:cNvSpPr txBox="1"/>
          <p:nvPr/>
        </p:nvSpPr>
        <p:spPr>
          <a:xfrm>
            <a:off x="5120640" y="1691640"/>
            <a:ext cx="2468880" cy="594360"/>
          </a:xfrm>
          <a:prstGeom prst="rect">
            <a:avLst/>
          </a:prstGeom>
          <a:noFill/>
          <a:ln/>
        </p:spPr>
        <p:txBody>
          <a:bodyPr wrap="square" lIns="0" tIns="0" rIns="0" bIns="0" rtlCol="0" anchor="ctr"/>
          <a:lstStyle/>
          <a:p>
            <a:pPr marL="0" indent="0">
              <a:buNone/>
            </a:pPr>
            <a:r>
              <a:rPr lang="en-US" sz="1600" b="1" dirty="0">
                <a:solidFill>
                  <a:schemeClr val="tx1"/>
                </a:solidFill>
              </a:rPr>
              <a:t>학술대회·세미나</a:t>
            </a:r>
            <a:endParaRPr lang="en-US" sz="1600" dirty="0"/>
          </a:p>
        </p:txBody>
      </p:sp>
      <p:sp>
        <p:nvSpPr>
          <p:cNvPr id="13" name="사업 설명 1"/>
          <p:cNvSpPr txBox="1"/>
          <p:nvPr/>
        </p:nvSpPr>
        <p:spPr>
          <a:xfrm>
            <a:off x="4343400" y="2377440"/>
            <a:ext cx="3200400" cy="548640"/>
          </a:xfrm>
          <a:prstGeom prst="rect">
            <a:avLst/>
          </a:prstGeom>
          <a:noFill/>
          <a:ln/>
        </p:spPr>
        <p:txBody>
          <a:bodyPr wrap="square" lIns="0" tIns="0" rIns="0" bIns="0" rtlCol="0" anchor="t"/>
          <a:lstStyle/>
          <a:p>
            <a:pPr marL="0" indent="0">
              <a:buNone/>
            </a:pPr>
            <a:r>
              <a:rPr lang="en-US" sz="1400" dirty="0">
                <a:solidFill>
                  <a:schemeClr val="tx2"/>
                </a:solidFill>
              </a:rPr>
              <a:t>정기 학술대회·토론회·세미나·심포지엄 개최</a:t>
            </a:r>
            <a:endParaRPr lang="en-US" sz="1400" dirty="0"/>
          </a:p>
        </p:txBody>
      </p:sp>
      <p:sp>
        <p:nvSpPr>
          <p:cNvPr id="14" name="사업 카드 2"/>
          <p:cNvSpPr/>
          <p:nvPr/>
        </p:nvSpPr>
        <p:spPr>
          <a:xfrm>
            <a:off x="7882128" y="1463040"/>
            <a:ext cx="3639312" cy="1508760"/>
          </a:xfrm>
          <a:prstGeom prst="roundRect">
            <a:avLst>
              <a:gd name="adj" fmla="val 7273"/>
            </a:avLst>
          </a:prstGeom>
          <a:solidFill>
            <a:schemeClr val="bg2"/>
          </a:solidFill>
          <a:ln/>
        </p:spPr>
      </p:sp>
      <p:sp>
        <p:nvSpPr>
          <p:cNvPr id="15" name="학술지·출판 배경"/>
          <p:cNvSpPr/>
          <p:nvPr/>
        </p:nvSpPr>
        <p:spPr>
          <a:xfrm>
            <a:off x="8110728" y="1691640"/>
            <a:ext cx="594360" cy="594360"/>
          </a:xfrm>
          <a:prstGeom prst="ellipse">
            <a:avLst/>
          </a:prstGeom>
          <a:solidFill>
            <a:schemeClr val="accent1"/>
          </a:solidFill>
          <a:ln/>
        </p:spPr>
      </p:sp>
      <p:pic>
        <p:nvPicPr>
          <p:cNvPr id="16" name="학술지·출판 아이콘" descr="FaBook"/>
          <p:cNvPicPr>
            <a:picLocks noChangeAspect="1"/>
          </p:cNvPicPr>
          <p:nvPr/>
        </p:nvPicPr>
        <p:blipFill>
          <a:blip r:embed="rId4"/>
          <a:stretch>
            <a:fillRect/>
          </a:stretch>
        </p:blipFill>
        <p:spPr>
          <a:xfrm>
            <a:off x="8265262" y="1846174"/>
            <a:ext cx="285293" cy="285293"/>
          </a:xfrm>
          <a:prstGeom prst="rect">
            <a:avLst/>
          </a:prstGeom>
        </p:spPr>
      </p:pic>
      <p:sp>
        <p:nvSpPr>
          <p:cNvPr id="17" name="사업 제목 2"/>
          <p:cNvSpPr txBox="1"/>
          <p:nvPr/>
        </p:nvSpPr>
        <p:spPr>
          <a:xfrm>
            <a:off x="8887968" y="1691640"/>
            <a:ext cx="2468880" cy="594360"/>
          </a:xfrm>
          <a:prstGeom prst="rect">
            <a:avLst/>
          </a:prstGeom>
          <a:noFill/>
          <a:ln/>
        </p:spPr>
        <p:txBody>
          <a:bodyPr wrap="square" lIns="0" tIns="0" rIns="0" bIns="0" rtlCol="0" anchor="ctr"/>
          <a:lstStyle/>
          <a:p>
            <a:pPr marL="0" indent="0">
              <a:buNone/>
            </a:pPr>
            <a:r>
              <a:rPr lang="en-US" sz="1600" b="1" dirty="0">
                <a:solidFill>
                  <a:schemeClr val="tx1"/>
                </a:solidFill>
              </a:rPr>
              <a:t>학술지·출판</a:t>
            </a:r>
            <a:endParaRPr lang="en-US" sz="1600" dirty="0"/>
          </a:p>
        </p:txBody>
      </p:sp>
      <p:sp>
        <p:nvSpPr>
          <p:cNvPr id="18" name="사업 설명 2"/>
          <p:cNvSpPr txBox="1"/>
          <p:nvPr/>
        </p:nvSpPr>
        <p:spPr>
          <a:xfrm>
            <a:off x="8110728" y="2377440"/>
            <a:ext cx="3200400" cy="548640"/>
          </a:xfrm>
          <a:prstGeom prst="rect">
            <a:avLst/>
          </a:prstGeom>
          <a:noFill/>
          <a:ln/>
        </p:spPr>
        <p:txBody>
          <a:bodyPr wrap="square" lIns="0" tIns="0" rIns="0" bIns="0" rtlCol="0" anchor="t"/>
          <a:lstStyle/>
          <a:p>
            <a:pPr marL="0" indent="0">
              <a:buNone/>
            </a:pPr>
            <a:r>
              <a:rPr lang="en-US" sz="1400" dirty="0">
                <a:solidFill>
                  <a:schemeClr val="tx2"/>
                </a:solidFill>
              </a:rPr>
              <a:t>학술지와 공식 자료집 등 출판물 발행</a:t>
            </a:r>
            <a:endParaRPr lang="en-US" sz="1400" dirty="0"/>
          </a:p>
        </p:txBody>
      </p:sp>
      <p:sp>
        <p:nvSpPr>
          <p:cNvPr id="19" name="사업 카드 3"/>
          <p:cNvSpPr/>
          <p:nvPr/>
        </p:nvSpPr>
        <p:spPr>
          <a:xfrm>
            <a:off x="4114800" y="3108960"/>
            <a:ext cx="3639312" cy="1508760"/>
          </a:xfrm>
          <a:prstGeom prst="roundRect">
            <a:avLst>
              <a:gd name="adj" fmla="val 7273"/>
            </a:avLst>
          </a:prstGeom>
          <a:solidFill>
            <a:schemeClr val="bg2"/>
          </a:solidFill>
          <a:ln/>
        </p:spPr>
      </p:sp>
      <p:sp>
        <p:nvSpPr>
          <p:cNvPr id="20" name="교육·인증제 배경"/>
          <p:cNvSpPr/>
          <p:nvPr/>
        </p:nvSpPr>
        <p:spPr>
          <a:xfrm>
            <a:off x="4343400" y="3337560"/>
            <a:ext cx="594360" cy="594360"/>
          </a:xfrm>
          <a:prstGeom prst="ellipse">
            <a:avLst/>
          </a:prstGeom>
          <a:solidFill>
            <a:schemeClr val="accent1"/>
          </a:solidFill>
          <a:ln/>
        </p:spPr>
      </p:sp>
      <p:pic>
        <p:nvPicPr>
          <p:cNvPr id="21" name="교육·인증제 아이콘" descr="FaCertificate"/>
          <p:cNvPicPr>
            <a:picLocks noChangeAspect="1"/>
          </p:cNvPicPr>
          <p:nvPr/>
        </p:nvPicPr>
        <p:blipFill>
          <a:blip r:embed="rId5"/>
          <a:stretch>
            <a:fillRect/>
          </a:stretch>
        </p:blipFill>
        <p:spPr>
          <a:xfrm>
            <a:off x="4497934" y="3492094"/>
            <a:ext cx="285293" cy="285293"/>
          </a:xfrm>
          <a:prstGeom prst="rect">
            <a:avLst/>
          </a:prstGeom>
        </p:spPr>
      </p:pic>
      <p:sp>
        <p:nvSpPr>
          <p:cNvPr id="22" name="사업 제목 3"/>
          <p:cNvSpPr txBox="1"/>
          <p:nvPr/>
        </p:nvSpPr>
        <p:spPr>
          <a:xfrm>
            <a:off x="5120640" y="3337560"/>
            <a:ext cx="2468880" cy="594360"/>
          </a:xfrm>
          <a:prstGeom prst="rect">
            <a:avLst/>
          </a:prstGeom>
          <a:noFill/>
          <a:ln/>
        </p:spPr>
        <p:txBody>
          <a:bodyPr wrap="square" lIns="0" tIns="0" rIns="0" bIns="0" rtlCol="0" anchor="ctr"/>
          <a:lstStyle/>
          <a:p>
            <a:pPr marL="0" indent="0">
              <a:buNone/>
            </a:pPr>
            <a:r>
              <a:rPr lang="en-US" sz="1600" b="1" dirty="0">
                <a:solidFill>
                  <a:schemeClr val="tx1"/>
                </a:solidFill>
              </a:rPr>
              <a:t>교육·인증제</a:t>
            </a:r>
            <a:endParaRPr lang="en-US" sz="1600" dirty="0"/>
          </a:p>
        </p:txBody>
      </p:sp>
      <p:sp>
        <p:nvSpPr>
          <p:cNvPr id="23" name="사업 설명 3"/>
          <p:cNvSpPr txBox="1"/>
          <p:nvPr/>
        </p:nvSpPr>
        <p:spPr>
          <a:xfrm>
            <a:off x="4343400" y="4023360"/>
            <a:ext cx="3200400" cy="548640"/>
          </a:xfrm>
          <a:prstGeom prst="rect">
            <a:avLst/>
          </a:prstGeom>
          <a:noFill/>
          <a:ln/>
        </p:spPr>
        <p:txBody>
          <a:bodyPr wrap="square" lIns="0" tIns="0" rIns="0" bIns="0" rtlCol="0" anchor="t"/>
          <a:lstStyle/>
          <a:p>
            <a:pPr marL="0" indent="0">
              <a:buNone/>
            </a:pPr>
            <a:r>
              <a:rPr lang="en-US" sz="1400" dirty="0">
                <a:solidFill>
                  <a:schemeClr val="tx2"/>
                </a:solidFill>
              </a:rPr>
              <a:t>교육·문화 콘텐츠 연수와 인증제 운영</a:t>
            </a:r>
            <a:endParaRPr lang="en-US" sz="1400" dirty="0"/>
          </a:p>
        </p:txBody>
      </p:sp>
      <p:sp>
        <p:nvSpPr>
          <p:cNvPr id="24" name="사업 카드 4"/>
          <p:cNvSpPr/>
          <p:nvPr/>
        </p:nvSpPr>
        <p:spPr>
          <a:xfrm>
            <a:off x="7882128" y="3108960"/>
            <a:ext cx="3639312" cy="1508760"/>
          </a:xfrm>
          <a:prstGeom prst="roundRect">
            <a:avLst>
              <a:gd name="adj" fmla="val 7273"/>
            </a:avLst>
          </a:prstGeom>
          <a:solidFill>
            <a:schemeClr val="bg2"/>
          </a:solidFill>
          <a:ln/>
        </p:spPr>
      </p:sp>
      <p:sp>
        <p:nvSpPr>
          <p:cNvPr id="25" name="전문인력 양성 배경"/>
          <p:cNvSpPr/>
          <p:nvPr/>
        </p:nvSpPr>
        <p:spPr>
          <a:xfrm>
            <a:off x="8110728" y="3337560"/>
            <a:ext cx="594360" cy="594360"/>
          </a:xfrm>
          <a:prstGeom prst="ellipse">
            <a:avLst/>
          </a:prstGeom>
          <a:solidFill>
            <a:schemeClr val="accent1"/>
          </a:solidFill>
          <a:ln/>
        </p:spPr>
      </p:sp>
      <p:pic>
        <p:nvPicPr>
          <p:cNvPr id="26" name="전문인력 양성 아이콘" descr="FaUserGraduate"/>
          <p:cNvPicPr>
            <a:picLocks noChangeAspect="1"/>
          </p:cNvPicPr>
          <p:nvPr/>
        </p:nvPicPr>
        <p:blipFill>
          <a:blip r:embed="rId6"/>
          <a:stretch>
            <a:fillRect/>
          </a:stretch>
        </p:blipFill>
        <p:spPr>
          <a:xfrm>
            <a:off x="8265262" y="3492094"/>
            <a:ext cx="285293" cy="285293"/>
          </a:xfrm>
          <a:prstGeom prst="rect">
            <a:avLst/>
          </a:prstGeom>
        </p:spPr>
      </p:pic>
      <p:sp>
        <p:nvSpPr>
          <p:cNvPr id="27" name="사업 제목 4"/>
          <p:cNvSpPr txBox="1"/>
          <p:nvPr/>
        </p:nvSpPr>
        <p:spPr>
          <a:xfrm>
            <a:off x="8887968" y="3337560"/>
            <a:ext cx="2468880" cy="594360"/>
          </a:xfrm>
          <a:prstGeom prst="rect">
            <a:avLst/>
          </a:prstGeom>
          <a:noFill/>
          <a:ln/>
        </p:spPr>
        <p:txBody>
          <a:bodyPr wrap="square" lIns="0" tIns="0" rIns="0" bIns="0" rtlCol="0" anchor="ctr"/>
          <a:lstStyle/>
          <a:p>
            <a:pPr marL="0" indent="0">
              <a:buNone/>
            </a:pPr>
            <a:r>
              <a:rPr lang="en-US" sz="1600" b="1" dirty="0">
                <a:solidFill>
                  <a:schemeClr val="tx1"/>
                </a:solidFill>
              </a:rPr>
              <a:t>전문인력 양성</a:t>
            </a:r>
            <a:endParaRPr lang="en-US" sz="1600" dirty="0"/>
          </a:p>
        </p:txBody>
      </p:sp>
      <p:sp>
        <p:nvSpPr>
          <p:cNvPr id="28" name="사업 설명 4"/>
          <p:cNvSpPr txBox="1"/>
          <p:nvPr/>
        </p:nvSpPr>
        <p:spPr>
          <a:xfrm>
            <a:off x="8110728" y="4023360"/>
            <a:ext cx="3200400" cy="548640"/>
          </a:xfrm>
          <a:prstGeom prst="rect">
            <a:avLst/>
          </a:prstGeom>
          <a:noFill/>
          <a:ln/>
        </p:spPr>
        <p:txBody>
          <a:bodyPr wrap="square" lIns="0" tIns="0" rIns="0" bIns="0" rtlCol="0" anchor="t"/>
          <a:lstStyle/>
          <a:p>
            <a:pPr marL="0" indent="0">
              <a:buNone/>
            </a:pPr>
            <a:r>
              <a:rPr lang="en-US" sz="1400" dirty="0">
                <a:solidFill>
                  <a:schemeClr val="tx2"/>
                </a:solidFill>
              </a:rPr>
              <a:t>소통 전문인력 양성, 교육 위탁사업</a:t>
            </a:r>
            <a:endParaRPr lang="en-US" sz="1400" dirty="0"/>
          </a:p>
        </p:txBody>
      </p:sp>
      <p:sp>
        <p:nvSpPr>
          <p:cNvPr id="29" name="사업 카드 5"/>
          <p:cNvSpPr/>
          <p:nvPr/>
        </p:nvSpPr>
        <p:spPr>
          <a:xfrm>
            <a:off x="4114800" y="4754880"/>
            <a:ext cx="3639312" cy="1508760"/>
          </a:xfrm>
          <a:prstGeom prst="roundRect">
            <a:avLst>
              <a:gd name="adj" fmla="val 7273"/>
            </a:avLst>
          </a:prstGeom>
          <a:solidFill>
            <a:schemeClr val="bg2"/>
          </a:solidFill>
          <a:ln/>
        </p:spPr>
      </p:sp>
      <p:sp>
        <p:nvSpPr>
          <p:cNvPr id="30" name="수탁연구·정책 자문 배경"/>
          <p:cNvSpPr/>
          <p:nvPr/>
        </p:nvSpPr>
        <p:spPr>
          <a:xfrm>
            <a:off x="4343400" y="4983480"/>
            <a:ext cx="594360" cy="594360"/>
          </a:xfrm>
          <a:prstGeom prst="ellipse">
            <a:avLst/>
          </a:prstGeom>
          <a:solidFill>
            <a:schemeClr val="accent1"/>
          </a:solidFill>
          <a:ln/>
        </p:spPr>
      </p:sp>
      <p:pic>
        <p:nvPicPr>
          <p:cNvPr id="31" name="수탁연구·정책 자문 아이콘" descr="FaFileSignature"/>
          <p:cNvPicPr>
            <a:picLocks noChangeAspect="1"/>
          </p:cNvPicPr>
          <p:nvPr/>
        </p:nvPicPr>
        <p:blipFill>
          <a:blip r:embed="rId7"/>
          <a:stretch>
            <a:fillRect/>
          </a:stretch>
        </p:blipFill>
        <p:spPr>
          <a:xfrm>
            <a:off x="4497934" y="5138014"/>
            <a:ext cx="285293" cy="285293"/>
          </a:xfrm>
          <a:prstGeom prst="rect">
            <a:avLst/>
          </a:prstGeom>
        </p:spPr>
      </p:pic>
      <p:sp>
        <p:nvSpPr>
          <p:cNvPr id="32" name="사업 제목 5"/>
          <p:cNvSpPr txBox="1"/>
          <p:nvPr/>
        </p:nvSpPr>
        <p:spPr>
          <a:xfrm>
            <a:off x="5120640" y="4983480"/>
            <a:ext cx="2468880" cy="594360"/>
          </a:xfrm>
          <a:prstGeom prst="rect">
            <a:avLst/>
          </a:prstGeom>
          <a:noFill/>
          <a:ln/>
        </p:spPr>
        <p:txBody>
          <a:bodyPr wrap="square" lIns="0" tIns="0" rIns="0" bIns="0" rtlCol="0" anchor="ctr"/>
          <a:lstStyle/>
          <a:p>
            <a:pPr marL="0" indent="0">
              <a:buNone/>
            </a:pPr>
            <a:r>
              <a:rPr lang="en-US" sz="1600" b="1" dirty="0">
                <a:solidFill>
                  <a:schemeClr val="tx1"/>
                </a:solidFill>
              </a:rPr>
              <a:t>수탁연구·정책 자문</a:t>
            </a:r>
            <a:endParaRPr lang="en-US" sz="1600" dirty="0"/>
          </a:p>
        </p:txBody>
      </p:sp>
      <p:sp>
        <p:nvSpPr>
          <p:cNvPr id="33" name="사업 설명 5"/>
          <p:cNvSpPr txBox="1"/>
          <p:nvPr/>
        </p:nvSpPr>
        <p:spPr>
          <a:xfrm>
            <a:off x="4343400" y="5669280"/>
            <a:ext cx="3200400" cy="548640"/>
          </a:xfrm>
          <a:prstGeom prst="rect">
            <a:avLst/>
          </a:prstGeom>
          <a:noFill/>
          <a:ln/>
        </p:spPr>
        <p:txBody>
          <a:bodyPr wrap="square" lIns="0" tIns="0" rIns="0" bIns="0" rtlCol="0" anchor="t"/>
          <a:lstStyle/>
          <a:p>
            <a:pPr marL="0" indent="0">
              <a:buNone/>
            </a:pPr>
            <a:r>
              <a:rPr lang="en-US" sz="1400" dirty="0">
                <a:solidFill>
                  <a:schemeClr val="tx2"/>
                </a:solidFill>
              </a:rPr>
              <a:t>국가·지자체·공공기관 수탁연구와 자문</a:t>
            </a:r>
            <a:endParaRPr lang="en-US" sz="1400" dirty="0"/>
          </a:p>
        </p:txBody>
      </p:sp>
      <p:sp>
        <p:nvSpPr>
          <p:cNvPr id="34" name="사업 카드 6"/>
          <p:cNvSpPr/>
          <p:nvPr/>
        </p:nvSpPr>
        <p:spPr>
          <a:xfrm>
            <a:off x="7882128" y="4754880"/>
            <a:ext cx="3639312" cy="1508760"/>
          </a:xfrm>
          <a:prstGeom prst="roundRect">
            <a:avLst>
              <a:gd name="adj" fmla="val 7273"/>
            </a:avLst>
          </a:prstGeom>
          <a:solidFill>
            <a:schemeClr val="bg2"/>
          </a:solidFill>
          <a:ln/>
        </p:spPr>
      </p:sp>
      <p:sp>
        <p:nvSpPr>
          <p:cNvPr id="35" name="국내외 교류 배경"/>
          <p:cNvSpPr/>
          <p:nvPr/>
        </p:nvSpPr>
        <p:spPr>
          <a:xfrm>
            <a:off x="8110728" y="4983480"/>
            <a:ext cx="594360" cy="594360"/>
          </a:xfrm>
          <a:prstGeom prst="ellipse">
            <a:avLst/>
          </a:prstGeom>
          <a:solidFill>
            <a:schemeClr val="accent1"/>
          </a:solidFill>
          <a:ln/>
        </p:spPr>
      </p:sp>
      <p:pic>
        <p:nvPicPr>
          <p:cNvPr id="36" name="국내외 교류 아이콘" descr="FaShareAlt"/>
          <p:cNvPicPr>
            <a:picLocks noChangeAspect="1"/>
          </p:cNvPicPr>
          <p:nvPr/>
        </p:nvPicPr>
        <p:blipFill>
          <a:blip r:embed="rId8"/>
          <a:stretch>
            <a:fillRect/>
          </a:stretch>
        </p:blipFill>
        <p:spPr>
          <a:xfrm>
            <a:off x="8265262" y="5138014"/>
            <a:ext cx="285293" cy="285293"/>
          </a:xfrm>
          <a:prstGeom prst="rect">
            <a:avLst/>
          </a:prstGeom>
        </p:spPr>
      </p:pic>
      <p:sp>
        <p:nvSpPr>
          <p:cNvPr id="37" name="사업 제목 6"/>
          <p:cNvSpPr txBox="1"/>
          <p:nvPr/>
        </p:nvSpPr>
        <p:spPr>
          <a:xfrm>
            <a:off x="8887968" y="4983480"/>
            <a:ext cx="2468880" cy="594360"/>
          </a:xfrm>
          <a:prstGeom prst="rect">
            <a:avLst/>
          </a:prstGeom>
          <a:noFill/>
          <a:ln/>
        </p:spPr>
        <p:txBody>
          <a:bodyPr wrap="square" lIns="0" tIns="0" rIns="0" bIns="0" rtlCol="0" anchor="ctr"/>
          <a:lstStyle/>
          <a:p>
            <a:pPr marL="0" indent="0">
              <a:buNone/>
            </a:pPr>
            <a:r>
              <a:rPr lang="en-US" sz="1600" b="1" dirty="0">
                <a:solidFill>
                  <a:schemeClr val="tx1"/>
                </a:solidFill>
              </a:rPr>
              <a:t>국내외 교류</a:t>
            </a:r>
            <a:endParaRPr lang="en-US" sz="1600" dirty="0"/>
          </a:p>
        </p:txBody>
      </p:sp>
      <p:sp>
        <p:nvSpPr>
          <p:cNvPr id="38" name="사업 설명 6"/>
          <p:cNvSpPr txBox="1"/>
          <p:nvPr/>
        </p:nvSpPr>
        <p:spPr>
          <a:xfrm>
            <a:off x="8110728" y="5669280"/>
            <a:ext cx="3200400" cy="548640"/>
          </a:xfrm>
          <a:prstGeom prst="rect">
            <a:avLst/>
          </a:prstGeom>
          <a:noFill/>
          <a:ln/>
        </p:spPr>
        <p:txBody>
          <a:bodyPr wrap="square" lIns="0" tIns="0" rIns="0" bIns="0" rtlCol="0" anchor="t"/>
          <a:lstStyle/>
          <a:p>
            <a:pPr marL="0" indent="0">
              <a:buNone/>
            </a:pPr>
            <a:r>
              <a:rPr lang="en-US" sz="1400" dirty="0">
                <a:solidFill>
                  <a:schemeClr val="tx2"/>
                </a:solidFill>
              </a:rPr>
              <a:t>유관 학회·단체와 공동 행사, 연구 교류</a:t>
            </a:r>
            <a:endParaRPr lang="en-US" sz="1400" dirty="0"/>
          </a:p>
        </p:txBody>
      </p:sp>
      <p:sp>
        <p:nvSpPr>
          <p:cNvPr id="39"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ORGANIZATION</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조직 구조</a:t>
            </a:r>
            <a:endParaRPr lang="en-US" sz="3200" dirty="0"/>
          </a:p>
        </p:txBody>
      </p:sp>
      <p:sp>
        <p:nvSpPr>
          <p:cNvPr id="4" name="총회 띠"/>
          <p:cNvSpPr/>
          <p:nvPr/>
        </p:nvSpPr>
        <p:spPr>
          <a:xfrm>
            <a:off x="548640" y="1463040"/>
            <a:ext cx="11094415" cy="713232"/>
          </a:xfrm>
          <a:prstGeom prst="roundRect">
            <a:avLst>
              <a:gd name="adj" fmla="val 15385"/>
            </a:avLst>
          </a:prstGeom>
          <a:solidFill>
            <a:schemeClr val="accent1"/>
          </a:solidFill>
          <a:ln/>
        </p:spPr>
      </p:sp>
      <p:sp>
        <p:nvSpPr>
          <p:cNvPr id="5" name="총회 문구"/>
          <p:cNvSpPr txBox="1"/>
          <p:nvPr/>
        </p:nvSpPr>
        <p:spPr>
          <a:xfrm>
            <a:off x="914400" y="1463040"/>
            <a:ext cx="10362895" cy="713232"/>
          </a:xfrm>
          <a:prstGeom prst="rect">
            <a:avLst/>
          </a:prstGeom>
          <a:noFill/>
          <a:ln/>
        </p:spPr>
        <p:txBody>
          <a:bodyPr wrap="square" lIns="0" tIns="0" rIns="0" bIns="0" rtlCol="0" anchor="ctr"/>
          <a:lstStyle/>
          <a:p>
            <a:pPr marL="0" indent="0">
              <a:buNone/>
            </a:pPr>
            <a:r>
              <a:rPr lang="en-US" sz="1700" b="1" dirty="0">
                <a:solidFill>
                  <a:schemeClr val="bg1"/>
                </a:solidFill>
              </a:rPr>
              <a:t>총회   </a:t>
            </a:r>
            <a:r>
              <a:rPr lang="en-US" sz="1400" dirty="0">
                <a:solidFill>
                  <a:schemeClr val="bg1"/>
                </a:solidFill>
              </a:rPr>
              <a:t>정회원·단체회원이 임원 선출, 정관 변경, 사업계획·예산·결산을 의결</a:t>
            </a:r>
            <a:endParaRPr lang="en-US" sz="1700" dirty="0"/>
          </a:p>
        </p:txBody>
      </p:sp>
      <p:sp>
        <p:nvSpPr>
          <p:cNvPr id="6" name="이사회 박스"/>
          <p:cNvSpPr/>
          <p:nvPr/>
        </p:nvSpPr>
        <p:spPr>
          <a:xfrm>
            <a:off x="548640" y="2331720"/>
            <a:ext cx="4114800" cy="2103120"/>
          </a:xfrm>
          <a:prstGeom prst="roundRect">
            <a:avLst>
              <a:gd name="adj" fmla="val 5217"/>
            </a:avLst>
          </a:prstGeom>
          <a:solidFill>
            <a:schemeClr val="tx1"/>
          </a:solidFill>
          <a:ln/>
        </p:spPr>
      </p:sp>
      <p:sp>
        <p:nvSpPr>
          <p:cNvPr id="7" name="이사회 제목"/>
          <p:cNvSpPr txBox="1"/>
          <p:nvPr/>
        </p:nvSpPr>
        <p:spPr>
          <a:xfrm>
            <a:off x="822960" y="2514600"/>
            <a:ext cx="3566160" cy="365760"/>
          </a:xfrm>
          <a:prstGeom prst="rect">
            <a:avLst/>
          </a:prstGeom>
          <a:noFill/>
          <a:ln/>
        </p:spPr>
        <p:txBody>
          <a:bodyPr wrap="square" lIns="0" tIns="0" rIns="0" bIns="0" rtlCol="0" anchor="t"/>
          <a:lstStyle/>
          <a:p>
            <a:pPr marL="0" indent="0">
              <a:buNone/>
            </a:pPr>
            <a:r>
              <a:rPr lang="en-US" sz="1900" b="1" dirty="0">
                <a:solidFill>
                  <a:schemeClr val="bg1"/>
                </a:solidFill>
              </a:rPr>
              <a:t>이사회</a:t>
            </a:r>
            <a:endParaRPr lang="en-US" sz="1900" dirty="0"/>
          </a:p>
        </p:txBody>
      </p:sp>
      <p:sp>
        <p:nvSpPr>
          <p:cNvPr id="8" name="이사회 역할"/>
          <p:cNvSpPr txBox="1"/>
          <p:nvPr/>
        </p:nvSpPr>
        <p:spPr>
          <a:xfrm>
            <a:off x="822960" y="2898648"/>
            <a:ext cx="3566160" cy="274320"/>
          </a:xfrm>
          <a:prstGeom prst="rect">
            <a:avLst/>
          </a:prstGeom>
          <a:noFill/>
          <a:ln/>
        </p:spPr>
        <p:txBody>
          <a:bodyPr wrap="square" lIns="0" tIns="0" rIns="0" bIns="0" rtlCol="0" anchor="t"/>
          <a:lstStyle/>
          <a:p>
            <a:pPr marL="0" indent="0">
              <a:buNone/>
            </a:pPr>
            <a:r>
              <a:rPr lang="en-US" sz="1400" b="1" dirty="0">
                <a:solidFill>
                  <a:schemeClr val="accent5"/>
                </a:solidFill>
              </a:rPr>
              <a:t>최고 의사결정·전략 기구</a:t>
            </a:r>
            <a:endParaRPr lang="en-US" sz="1400" dirty="0"/>
          </a:p>
        </p:txBody>
      </p:sp>
      <p:sp>
        <p:nvSpPr>
          <p:cNvPr id="9" name="이사회 내용"/>
          <p:cNvSpPr txBox="1"/>
          <p:nvPr/>
        </p:nvSpPr>
        <p:spPr>
          <a:xfrm>
            <a:off x="822960" y="3227832"/>
            <a:ext cx="356616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회장·명예회장·부회장·이사 (동등한 의결권)</a:t>
            </a:r>
            <a:endParaRPr lang="en-US" sz="1400" dirty="0"/>
          </a:p>
          <a:p>
            <a:pPr marL="342900" indent="-342900">
              <a:spcAft>
                <a:spcPts val="400"/>
              </a:spcAft>
              <a:buSzPct val="100000"/>
              <a:buChar char="•"/>
            </a:pPr>
            <a:r>
              <a:rPr lang="en-US" sz="1400" dirty="0">
                <a:solidFill>
                  <a:schemeClr val="bg1"/>
                </a:solidFill>
              </a:rPr>
              <a:t>감사: 의결권 없이 재정·업무를 독립 감사</a:t>
            </a:r>
            <a:endParaRPr lang="en-US" sz="1400" dirty="0"/>
          </a:p>
        </p:txBody>
      </p:sp>
      <p:sp>
        <p:nvSpPr>
          <p:cNvPr id="10" name="운영위원회 박스"/>
          <p:cNvSpPr/>
          <p:nvPr/>
        </p:nvSpPr>
        <p:spPr>
          <a:xfrm>
            <a:off x="4846320" y="2331720"/>
            <a:ext cx="4114800" cy="2103120"/>
          </a:xfrm>
          <a:prstGeom prst="roundRect">
            <a:avLst>
              <a:gd name="adj" fmla="val 5217"/>
            </a:avLst>
          </a:prstGeom>
          <a:solidFill>
            <a:schemeClr val="tx2"/>
          </a:solidFill>
          <a:ln/>
        </p:spPr>
      </p:sp>
      <p:sp>
        <p:nvSpPr>
          <p:cNvPr id="11" name="운영위원회 제목"/>
          <p:cNvSpPr txBox="1"/>
          <p:nvPr/>
        </p:nvSpPr>
        <p:spPr>
          <a:xfrm>
            <a:off x="5120640" y="2514600"/>
            <a:ext cx="3566160" cy="365760"/>
          </a:xfrm>
          <a:prstGeom prst="rect">
            <a:avLst/>
          </a:prstGeom>
          <a:noFill/>
          <a:ln/>
        </p:spPr>
        <p:txBody>
          <a:bodyPr wrap="square" lIns="0" tIns="0" rIns="0" bIns="0" rtlCol="0" anchor="t"/>
          <a:lstStyle/>
          <a:p>
            <a:pPr marL="0" indent="0">
              <a:buNone/>
            </a:pPr>
            <a:r>
              <a:rPr lang="en-US" sz="1900" b="1" dirty="0">
                <a:solidFill>
                  <a:schemeClr val="bg1"/>
                </a:solidFill>
              </a:rPr>
              <a:t>운영위원회</a:t>
            </a:r>
            <a:endParaRPr lang="en-US" sz="1900" dirty="0"/>
          </a:p>
        </p:txBody>
      </p:sp>
      <p:sp>
        <p:nvSpPr>
          <p:cNvPr id="12" name="운영위원회 역할"/>
          <p:cNvSpPr txBox="1"/>
          <p:nvPr/>
        </p:nvSpPr>
        <p:spPr>
          <a:xfrm>
            <a:off x="5120640" y="2898648"/>
            <a:ext cx="3566160" cy="274320"/>
          </a:xfrm>
          <a:prstGeom prst="rect">
            <a:avLst/>
          </a:prstGeom>
          <a:noFill/>
          <a:ln/>
        </p:spPr>
        <p:txBody>
          <a:bodyPr wrap="square" lIns="0" tIns="0" rIns="0" bIns="0" rtlCol="0" anchor="t"/>
          <a:lstStyle/>
          <a:p>
            <a:pPr marL="0" indent="0">
              <a:buNone/>
            </a:pPr>
            <a:r>
              <a:rPr lang="en-US" sz="1400" b="1" dirty="0">
                <a:solidFill>
                  <a:schemeClr val="accent5"/>
                </a:solidFill>
              </a:rPr>
              <a:t>상설 실무 총괄 기구</a:t>
            </a:r>
            <a:endParaRPr lang="en-US" sz="1400" dirty="0"/>
          </a:p>
        </p:txBody>
      </p:sp>
      <p:sp>
        <p:nvSpPr>
          <p:cNvPr id="13" name="운영위원회 내용"/>
          <p:cNvSpPr txBox="1"/>
          <p:nvPr/>
        </p:nvSpPr>
        <p:spPr>
          <a:xfrm>
            <a:off x="5120640" y="3227832"/>
            <a:ext cx="3566160"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회장이 운영위원장 겸임</a:t>
            </a:r>
            <a:endParaRPr lang="en-US" sz="1400" dirty="0"/>
          </a:p>
          <a:p>
            <a:pPr marL="342900" indent="-342900">
              <a:spcAft>
                <a:spcPts val="400"/>
              </a:spcAft>
              <a:buSzPct val="100000"/>
              <a:buChar char="•"/>
            </a:pPr>
            <a:r>
              <a:rPr lang="en-US" sz="1400" dirty="0">
                <a:solidFill>
                  <a:schemeClr val="bg1"/>
                </a:solidFill>
              </a:rPr>
              <a:t>총무·학술·편집·사업·대외협력·홍보 6개 분과</a:t>
            </a:r>
            <a:endParaRPr lang="en-US" sz="1400" dirty="0"/>
          </a:p>
        </p:txBody>
      </p:sp>
      <p:sp>
        <p:nvSpPr>
          <p:cNvPr id="14" name="특별위원회 박스"/>
          <p:cNvSpPr/>
          <p:nvPr/>
        </p:nvSpPr>
        <p:spPr>
          <a:xfrm>
            <a:off x="9144000" y="2331720"/>
            <a:ext cx="2499055" cy="2103120"/>
          </a:xfrm>
          <a:prstGeom prst="roundRect">
            <a:avLst>
              <a:gd name="adj" fmla="val 5217"/>
            </a:avLst>
          </a:prstGeom>
          <a:solidFill>
            <a:schemeClr val="bg1"/>
          </a:solidFill>
          <a:ln w="19050">
            <a:solidFill>
              <a:schemeClr val="accent3"/>
            </a:solidFill>
            <a:prstDash val="dash"/>
          </a:ln>
        </p:spPr>
      </p:sp>
      <p:sp>
        <p:nvSpPr>
          <p:cNvPr id="15" name="특별위원회 제목"/>
          <p:cNvSpPr txBox="1"/>
          <p:nvPr/>
        </p:nvSpPr>
        <p:spPr>
          <a:xfrm>
            <a:off x="9418320" y="2514600"/>
            <a:ext cx="1950415" cy="365760"/>
          </a:xfrm>
          <a:prstGeom prst="rect">
            <a:avLst/>
          </a:prstGeom>
          <a:noFill/>
          <a:ln/>
        </p:spPr>
        <p:txBody>
          <a:bodyPr wrap="square" lIns="0" tIns="0" rIns="0" bIns="0" rtlCol="0" anchor="t"/>
          <a:lstStyle/>
          <a:p>
            <a:pPr marL="0" indent="0">
              <a:buNone/>
            </a:pPr>
            <a:r>
              <a:rPr lang="en-US" sz="1900" b="1" dirty="0">
                <a:solidFill>
                  <a:schemeClr val="tx1"/>
                </a:solidFill>
              </a:rPr>
              <a:t>특별위원회</a:t>
            </a:r>
            <a:endParaRPr lang="en-US" sz="1900" dirty="0"/>
          </a:p>
        </p:txBody>
      </p:sp>
      <p:sp>
        <p:nvSpPr>
          <p:cNvPr id="16" name="특별위원회 역할"/>
          <p:cNvSpPr txBox="1"/>
          <p:nvPr/>
        </p:nvSpPr>
        <p:spPr>
          <a:xfrm>
            <a:off x="9418320" y="2898648"/>
            <a:ext cx="1950415" cy="274320"/>
          </a:xfrm>
          <a:prstGeom prst="rect">
            <a:avLst/>
          </a:prstGeom>
          <a:noFill/>
          <a:ln/>
        </p:spPr>
        <p:txBody>
          <a:bodyPr wrap="square" lIns="0" tIns="0" rIns="0" bIns="0" rtlCol="0" anchor="t"/>
          <a:lstStyle/>
          <a:p>
            <a:pPr marL="0" indent="0">
              <a:buNone/>
            </a:pPr>
            <a:r>
              <a:rPr lang="en-US" sz="1400" b="1" dirty="0">
                <a:solidFill>
                  <a:schemeClr val="accent1"/>
                </a:solidFill>
              </a:rPr>
              <a:t>한시 목적형 기구</a:t>
            </a:r>
            <a:endParaRPr lang="en-US" sz="1400" dirty="0"/>
          </a:p>
        </p:txBody>
      </p:sp>
      <p:sp>
        <p:nvSpPr>
          <p:cNvPr id="17" name="특별위원회 내용"/>
          <p:cNvSpPr txBox="1"/>
          <p:nvPr/>
        </p:nvSpPr>
        <p:spPr>
          <a:xfrm>
            <a:off x="9418320" y="3227832"/>
            <a:ext cx="1950415"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회장 직속, 위원 10인 이내</a:t>
            </a:r>
            <a:endParaRPr lang="en-US" sz="1400" dirty="0"/>
          </a:p>
          <a:p>
            <a:pPr marL="342900" indent="-342900">
              <a:spcAft>
                <a:spcPts val="400"/>
              </a:spcAft>
              <a:buSzPct val="100000"/>
              <a:buChar char="•"/>
            </a:pPr>
            <a:r>
              <a:rPr lang="en-US" sz="1400" dirty="0">
                <a:solidFill>
                  <a:schemeClr val="tx1"/>
                </a:solidFill>
              </a:rPr>
              <a:t>예) 기념사업, 학술지 등재</a:t>
            </a:r>
            <a:endParaRPr lang="en-US" sz="1400" dirty="0"/>
          </a:p>
        </p:txBody>
      </p:sp>
      <p:sp>
        <p:nvSpPr>
          <p:cNvPr id="18" name="자문단 박스"/>
          <p:cNvSpPr/>
          <p:nvPr/>
        </p:nvSpPr>
        <p:spPr>
          <a:xfrm>
            <a:off x="548640" y="4553712"/>
            <a:ext cx="4685833" cy="1755648"/>
          </a:xfrm>
          <a:prstGeom prst="roundRect">
            <a:avLst>
              <a:gd name="adj" fmla="val 6250"/>
            </a:avLst>
          </a:prstGeom>
          <a:solidFill>
            <a:schemeClr val="bg2"/>
          </a:solidFill>
          <a:ln/>
        </p:spPr>
      </p:sp>
      <p:sp>
        <p:nvSpPr>
          <p:cNvPr id="19" name="자문단 제목"/>
          <p:cNvSpPr txBox="1"/>
          <p:nvPr/>
        </p:nvSpPr>
        <p:spPr>
          <a:xfrm>
            <a:off x="822960" y="4736592"/>
            <a:ext cx="6949440" cy="365760"/>
          </a:xfrm>
          <a:prstGeom prst="rect">
            <a:avLst/>
          </a:prstGeom>
          <a:noFill/>
          <a:ln/>
        </p:spPr>
        <p:txBody>
          <a:bodyPr wrap="square" lIns="0" tIns="0" rIns="0" bIns="0" rtlCol="0" anchor="t"/>
          <a:lstStyle/>
          <a:p>
            <a:pPr marL="0" indent="0">
              <a:buNone/>
            </a:pPr>
            <a:r>
              <a:rPr lang="en-US" sz="1900" b="1" dirty="0">
                <a:solidFill>
                  <a:schemeClr val="tx1"/>
                </a:solidFill>
              </a:rPr>
              <a:t>자문단</a:t>
            </a:r>
            <a:endParaRPr lang="en-US" sz="1900" dirty="0"/>
          </a:p>
        </p:txBody>
      </p:sp>
      <p:sp>
        <p:nvSpPr>
          <p:cNvPr id="20" name="자문단 역할"/>
          <p:cNvSpPr txBox="1"/>
          <p:nvPr/>
        </p:nvSpPr>
        <p:spPr>
          <a:xfrm>
            <a:off x="822960" y="5120640"/>
            <a:ext cx="6949440" cy="274320"/>
          </a:xfrm>
          <a:prstGeom prst="rect">
            <a:avLst/>
          </a:prstGeom>
          <a:noFill/>
          <a:ln/>
        </p:spPr>
        <p:txBody>
          <a:bodyPr wrap="square" lIns="0" tIns="0" rIns="0" bIns="0" rtlCol="0" anchor="t"/>
          <a:lstStyle/>
          <a:p>
            <a:pPr marL="0" indent="0">
              <a:buNone/>
            </a:pPr>
            <a:r>
              <a:rPr lang="en-US" sz="1400" b="1" dirty="0">
                <a:solidFill>
                  <a:schemeClr val="accent1"/>
                </a:solidFill>
              </a:rPr>
              <a:t>경험 공유·지원 기구</a:t>
            </a:r>
            <a:endParaRPr lang="en-US" sz="1400" dirty="0"/>
          </a:p>
        </p:txBody>
      </p:sp>
      <p:sp>
        <p:nvSpPr>
          <p:cNvPr id="21" name="자문단 내용"/>
          <p:cNvSpPr txBox="1"/>
          <p:nvPr/>
        </p:nvSpPr>
        <p:spPr>
          <a:xfrm>
            <a:off x="822960" y="5449824"/>
            <a:ext cx="6949440" cy="79552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고문: 65세 이상 원로·최고 권위자</a:t>
            </a:r>
            <a:endParaRPr lang="en-US" sz="1400" dirty="0"/>
          </a:p>
          <a:p>
            <a:pPr marL="342900" indent="-342900">
              <a:spcAft>
                <a:spcPts val="400"/>
              </a:spcAft>
              <a:buSzPct val="100000"/>
              <a:buChar char="•"/>
            </a:pPr>
            <a:r>
              <a:rPr lang="en-US" sz="1400" dirty="0">
                <a:solidFill>
                  <a:schemeClr val="tx1"/>
                </a:solidFill>
              </a:rPr>
              <a:t>자문위원: 50~65세, 10년 이상 경력의 현장 전문가</a:t>
            </a:r>
            <a:endParaRPr lang="en-US" sz="1400" dirty="0"/>
          </a:p>
          <a:p>
            <a:pPr marL="342900" indent="-342900">
              <a:spcAft>
                <a:spcPts val="400"/>
              </a:spcAft>
              <a:buSzPct val="100000"/>
              <a:buChar char="•"/>
            </a:pPr>
            <a:r>
              <a:rPr lang="en-US" sz="1400" dirty="0">
                <a:solidFill>
                  <a:schemeClr val="tx1"/>
                </a:solidFill>
              </a:rPr>
              <a:t>연구위원: 20~50대 실천가·신진 (운영위 옵저버)</a:t>
            </a:r>
            <a:endParaRPr lang="en-US" sz="1400" dirty="0"/>
          </a:p>
        </p:txBody>
      </p:sp>
      <p:sp>
        <p:nvSpPr>
          <p:cNvPr id="22" name="사무국 박스"/>
          <p:cNvSpPr/>
          <p:nvPr/>
        </p:nvSpPr>
        <p:spPr>
          <a:xfrm>
            <a:off x="8257032" y="4553712"/>
            <a:ext cx="3386023" cy="1755648"/>
          </a:xfrm>
          <a:prstGeom prst="roundRect">
            <a:avLst>
              <a:gd name="adj" fmla="val 6250"/>
            </a:avLst>
          </a:prstGeom>
          <a:solidFill>
            <a:schemeClr val="bg2"/>
          </a:solidFill>
          <a:ln/>
        </p:spPr>
      </p:sp>
      <p:sp>
        <p:nvSpPr>
          <p:cNvPr id="23" name="사무국 제목"/>
          <p:cNvSpPr txBox="1"/>
          <p:nvPr/>
        </p:nvSpPr>
        <p:spPr>
          <a:xfrm>
            <a:off x="8531352" y="4736592"/>
            <a:ext cx="2837383" cy="365760"/>
          </a:xfrm>
          <a:prstGeom prst="rect">
            <a:avLst/>
          </a:prstGeom>
          <a:noFill/>
          <a:ln/>
        </p:spPr>
        <p:txBody>
          <a:bodyPr wrap="square" lIns="0" tIns="0" rIns="0" bIns="0" rtlCol="0" anchor="t"/>
          <a:lstStyle/>
          <a:p>
            <a:pPr marL="0" indent="0">
              <a:buNone/>
            </a:pPr>
            <a:r>
              <a:rPr lang="en-US" sz="1900" b="1" dirty="0">
                <a:solidFill>
                  <a:schemeClr val="tx1"/>
                </a:solidFill>
              </a:rPr>
              <a:t>사무국</a:t>
            </a:r>
            <a:endParaRPr lang="en-US" sz="1900" dirty="0"/>
          </a:p>
        </p:txBody>
      </p:sp>
      <p:sp>
        <p:nvSpPr>
          <p:cNvPr id="24" name="사무국 역할"/>
          <p:cNvSpPr txBox="1"/>
          <p:nvPr/>
        </p:nvSpPr>
        <p:spPr>
          <a:xfrm>
            <a:off x="8531352" y="5120640"/>
            <a:ext cx="2837383" cy="274320"/>
          </a:xfrm>
          <a:prstGeom prst="rect">
            <a:avLst/>
          </a:prstGeom>
          <a:noFill/>
          <a:ln/>
        </p:spPr>
        <p:txBody>
          <a:bodyPr wrap="square" lIns="0" tIns="0" rIns="0" bIns="0" rtlCol="0" anchor="t"/>
          <a:lstStyle/>
          <a:p>
            <a:pPr marL="0" indent="0">
              <a:buNone/>
            </a:pPr>
            <a:r>
              <a:rPr lang="en-US" sz="1400" b="1" dirty="0">
                <a:solidFill>
                  <a:schemeClr val="accent1"/>
                </a:solidFill>
              </a:rPr>
              <a:t>행정 실무 지원</a:t>
            </a:r>
            <a:endParaRPr lang="en-US" sz="1400" dirty="0"/>
          </a:p>
        </p:txBody>
      </p:sp>
      <p:sp>
        <p:nvSpPr>
          <p:cNvPr id="25" name="사무국 내용"/>
          <p:cNvSpPr txBox="1"/>
          <p:nvPr/>
        </p:nvSpPr>
        <p:spPr>
          <a:xfrm>
            <a:off x="8531352" y="5449824"/>
            <a:ext cx="2837383" cy="795528"/>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사무국장 1인, 파견 인력 가능</a:t>
            </a:r>
            <a:endParaRPr lang="en-US" sz="1400" dirty="0"/>
          </a:p>
        </p:txBody>
      </p:sp>
      <p:sp>
        <p:nvSpPr>
          <p:cNvPr id="26"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10</a:t>
            </a:fld>
            <a:endParaRPr lang="en-US"/>
          </a:p>
        </p:txBody>
      </p:sp>
      <p:sp>
        <p:nvSpPr>
          <p:cNvPr id="27" name="운영위원회 박스">
            <a:extLst>
              <a:ext uri="{FF2B5EF4-FFF2-40B4-BE49-F238E27FC236}">
                <a16:creationId xmlns:a16="http://schemas.microsoft.com/office/drawing/2014/main" id="{07E97AD4-621E-0F14-A2E0-99AF3C198715}"/>
              </a:ext>
            </a:extLst>
          </p:cNvPr>
          <p:cNvSpPr/>
          <p:nvPr/>
        </p:nvSpPr>
        <p:spPr>
          <a:xfrm>
            <a:off x="5303520" y="4553712"/>
            <a:ext cx="2953512" cy="1755648"/>
          </a:xfrm>
          <a:prstGeom prst="roundRect">
            <a:avLst>
              <a:gd name="adj" fmla="val 5217"/>
            </a:avLst>
          </a:prstGeom>
          <a:solidFill>
            <a:schemeClr val="tx2"/>
          </a:solidFill>
          <a:ln/>
        </p:spPr>
      </p:sp>
      <p:sp>
        <p:nvSpPr>
          <p:cNvPr id="28" name="운영위원회 제목">
            <a:extLst>
              <a:ext uri="{FF2B5EF4-FFF2-40B4-BE49-F238E27FC236}">
                <a16:creationId xmlns:a16="http://schemas.microsoft.com/office/drawing/2014/main" id="{8862531B-8C93-D36E-EAD5-506BC2D3D97C}"/>
              </a:ext>
            </a:extLst>
          </p:cNvPr>
          <p:cNvSpPr txBox="1"/>
          <p:nvPr/>
        </p:nvSpPr>
        <p:spPr>
          <a:xfrm>
            <a:off x="5577840" y="4736592"/>
            <a:ext cx="3566160" cy="365760"/>
          </a:xfrm>
          <a:prstGeom prst="rect">
            <a:avLst/>
          </a:prstGeom>
          <a:noFill/>
          <a:ln/>
        </p:spPr>
        <p:txBody>
          <a:bodyPr wrap="square" lIns="0" tIns="0" rIns="0" bIns="0" rtlCol="0" anchor="t"/>
          <a:lstStyle/>
          <a:p>
            <a:pPr marL="0" indent="0">
              <a:buNone/>
            </a:pPr>
            <a:r>
              <a:rPr lang="ko-KR" altLang="en-US" sz="1900" b="1" dirty="0">
                <a:solidFill>
                  <a:schemeClr val="bg1"/>
                </a:solidFill>
              </a:rPr>
              <a:t>상임</a:t>
            </a:r>
            <a:r>
              <a:rPr lang="en-US" sz="1900" b="1" dirty="0" err="1">
                <a:solidFill>
                  <a:schemeClr val="bg1"/>
                </a:solidFill>
              </a:rPr>
              <a:t>위원회</a:t>
            </a:r>
            <a:endParaRPr lang="en-US" sz="1900" dirty="0"/>
          </a:p>
        </p:txBody>
      </p:sp>
      <p:sp>
        <p:nvSpPr>
          <p:cNvPr id="29" name="운영위원회 역할">
            <a:extLst>
              <a:ext uri="{FF2B5EF4-FFF2-40B4-BE49-F238E27FC236}">
                <a16:creationId xmlns:a16="http://schemas.microsoft.com/office/drawing/2014/main" id="{B1D644B0-0529-1A7A-7FEC-3694B97B8806}"/>
              </a:ext>
            </a:extLst>
          </p:cNvPr>
          <p:cNvSpPr txBox="1"/>
          <p:nvPr/>
        </p:nvSpPr>
        <p:spPr>
          <a:xfrm>
            <a:off x="5577840" y="5120640"/>
            <a:ext cx="3566160" cy="274320"/>
          </a:xfrm>
          <a:prstGeom prst="rect">
            <a:avLst/>
          </a:prstGeom>
          <a:noFill/>
          <a:ln/>
        </p:spPr>
        <p:txBody>
          <a:bodyPr wrap="square" lIns="0" tIns="0" rIns="0" bIns="0" rtlCol="0" anchor="t"/>
          <a:lstStyle/>
          <a:p>
            <a:pPr marL="0" indent="0">
              <a:buNone/>
            </a:pPr>
            <a:r>
              <a:rPr lang="en-US" sz="1400" b="1" dirty="0">
                <a:solidFill>
                  <a:schemeClr val="accent5"/>
                </a:solidFill>
              </a:rPr>
              <a:t>상설 </a:t>
            </a:r>
            <a:r>
              <a:rPr lang="en-US" sz="1400" b="1" dirty="0" err="1">
                <a:solidFill>
                  <a:schemeClr val="accent5"/>
                </a:solidFill>
              </a:rPr>
              <a:t>실무</a:t>
            </a:r>
            <a:r>
              <a:rPr lang="en-US" sz="1400" b="1" dirty="0">
                <a:solidFill>
                  <a:schemeClr val="accent5"/>
                </a:solidFill>
              </a:rPr>
              <a:t> </a:t>
            </a:r>
            <a:r>
              <a:rPr lang="ko-KR" altLang="en-US" sz="1400" b="1" dirty="0">
                <a:solidFill>
                  <a:schemeClr val="accent5"/>
                </a:solidFill>
              </a:rPr>
              <a:t>논의</a:t>
            </a:r>
            <a:r>
              <a:rPr lang="en-US" sz="1400" b="1" dirty="0">
                <a:solidFill>
                  <a:schemeClr val="accent5"/>
                </a:solidFill>
              </a:rPr>
              <a:t> 기구</a:t>
            </a:r>
            <a:endParaRPr lang="en-US" sz="1400" dirty="0"/>
          </a:p>
        </p:txBody>
      </p:sp>
      <p:sp>
        <p:nvSpPr>
          <p:cNvPr id="30" name="운영위원회 내용">
            <a:extLst>
              <a:ext uri="{FF2B5EF4-FFF2-40B4-BE49-F238E27FC236}">
                <a16:creationId xmlns:a16="http://schemas.microsoft.com/office/drawing/2014/main" id="{DB1F9735-FF48-3A16-E8F9-3E2C39026275}"/>
              </a:ext>
            </a:extLst>
          </p:cNvPr>
          <p:cNvSpPr txBox="1"/>
          <p:nvPr/>
        </p:nvSpPr>
        <p:spPr>
          <a:xfrm>
            <a:off x="5577840" y="5449824"/>
            <a:ext cx="2555281"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rPr>
              <a:t>회장이 운영위원장 겸임</a:t>
            </a:r>
            <a:endParaRPr lang="en-US" sz="1400" dirty="0"/>
          </a:p>
          <a:p>
            <a:pPr marL="342900" indent="-342900">
              <a:spcAft>
                <a:spcPts val="400"/>
              </a:spcAft>
              <a:buSzPct val="100000"/>
              <a:buChar char="•"/>
            </a:pPr>
            <a:r>
              <a:rPr lang="ko-KR" altLang="en-US" sz="1400" dirty="0">
                <a:solidFill>
                  <a:schemeClr val="bg1"/>
                </a:solidFill>
              </a:rPr>
              <a:t>이사회 및 </a:t>
            </a:r>
            <a:r>
              <a:rPr lang="en-US" altLang="ko-KR" sz="1400" dirty="0">
                <a:solidFill>
                  <a:schemeClr val="bg1"/>
                </a:solidFill>
              </a:rPr>
              <a:t>6</a:t>
            </a:r>
            <a:r>
              <a:rPr lang="ko-KR" altLang="en-US" sz="1400" dirty="0">
                <a:solidFill>
                  <a:schemeClr val="bg1"/>
                </a:solidFill>
              </a:rPr>
              <a:t>개 운영위원 분과위원장 참석</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STEERING COMMITTEE</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운영위원회 6개 분과</a:t>
            </a:r>
            <a:endParaRPr lang="en-US" sz="3200" dirty="0"/>
          </a:p>
        </p:txBody>
      </p:sp>
      <p:sp>
        <p:nvSpPr>
          <p:cNvPr id="4" name="좌측 패널"/>
          <p:cNvSpPr/>
          <p:nvPr/>
        </p:nvSpPr>
        <p:spPr>
          <a:xfrm>
            <a:off x="548640" y="1463040"/>
            <a:ext cx="3291840" cy="4800600"/>
          </a:xfrm>
          <a:prstGeom prst="roundRect">
            <a:avLst>
              <a:gd name="adj" fmla="val 3333"/>
            </a:avLst>
          </a:prstGeom>
          <a:solidFill>
            <a:schemeClr val="tx1"/>
          </a:solidFill>
          <a:ln/>
        </p:spPr>
      </p:sp>
      <p:sp>
        <p:nvSpPr>
          <p:cNvPr id="5" name="패널 제목"/>
          <p:cNvSpPr txBox="1"/>
          <p:nvPr/>
        </p:nvSpPr>
        <p:spPr>
          <a:xfrm>
            <a:off x="914400" y="1783080"/>
            <a:ext cx="2560320" cy="914400"/>
          </a:xfrm>
          <a:prstGeom prst="rect">
            <a:avLst/>
          </a:prstGeom>
          <a:noFill/>
          <a:ln/>
        </p:spPr>
        <p:txBody>
          <a:bodyPr wrap="square" lIns="0" tIns="0" rIns="0" bIns="0" rtlCol="0" anchor="t"/>
          <a:lstStyle/>
          <a:p>
            <a:pPr marL="0" indent="0">
              <a:buNone/>
            </a:pPr>
            <a:r>
              <a:rPr lang="en-US" sz="2400" b="1" dirty="0">
                <a:solidFill>
                  <a:schemeClr val="bg1"/>
                </a:solidFill>
              </a:rPr>
              <a:t>‘간사’ 대신 ‘운영위원’</a:t>
            </a:r>
            <a:endParaRPr lang="en-US" sz="2400" dirty="0"/>
          </a:p>
        </p:txBody>
      </p:sp>
      <p:sp>
        <p:nvSpPr>
          <p:cNvPr id="6" name="패널 설명"/>
          <p:cNvSpPr txBox="1"/>
          <p:nvPr/>
        </p:nvSpPr>
        <p:spPr>
          <a:xfrm>
            <a:off x="914400" y="2926080"/>
            <a:ext cx="2560320" cy="1737360"/>
          </a:xfrm>
          <a:prstGeom prst="rect">
            <a:avLst/>
          </a:prstGeom>
          <a:noFill/>
          <a:ln/>
        </p:spPr>
        <p:txBody>
          <a:bodyPr wrap="square" lIns="0" tIns="0" rIns="0" bIns="0" rtlCol="0" anchor="t"/>
          <a:lstStyle/>
          <a:p>
            <a:pPr marL="0" indent="0">
              <a:buNone/>
            </a:pPr>
            <a:r>
              <a:rPr lang="en-US" sz="1400" dirty="0">
                <a:solidFill>
                  <a:schemeClr val="accent6"/>
                </a:solidFill>
              </a:rPr>
              <a:t>구성원 모두가 주체이자 책임자라는 의미를 담았습니다. 분과별 1~5인의 운영위원이 학술대회와 학술지를 직접 기획·실행합니다.</a:t>
            </a:r>
            <a:endParaRPr lang="en-US" sz="1400" dirty="0"/>
          </a:p>
        </p:txBody>
      </p:sp>
      <p:sp>
        <p:nvSpPr>
          <p:cNvPr id="7" name="패널 강조"/>
          <p:cNvSpPr txBox="1"/>
          <p:nvPr/>
        </p:nvSpPr>
        <p:spPr>
          <a:xfrm>
            <a:off x="914400" y="4937760"/>
            <a:ext cx="2560320" cy="1188720"/>
          </a:xfrm>
          <a:prstGeom prst="rect">
            <a:avLst/>
          </a:prstGeom>
          <a:noFill/>
          <a:ln/>
        </p:spPr>
        <p:txBody>
          <a:bodyPr wrap="square" lIns="0" tIns="0" rIns="0" bIns="0" rtlCol="0" anchor="t"/>
          <a:lstStyle/>
          <a:p>
            <a:pPr marL="0" indent="0">
              <a:buNone/>
            </a:pPr>
            <a:r>
              <a:rPr lang="en-US" sz="1300" dirty="0">
                <a:solidFill>
                  <a:schemeClr val="accent5"/>
                </a:solidFill>
              </a:rPr>
              <a:t>학술지가 없는 초기에도 편집 분과를 동등하게 배정해 학술지 창간을 체계적으로 준비합니다.</a:t>
            </a:r>
            <a:endParaRPr lang="en-US" sz="1300" dirty="0"/>
          </a:p>
        </p:txBody>
      </p:sp>
      <p:sp>
        <p:nvSpPr>
          <p:cNvPr id="8" name="분과 행 1"/>
          <p:cNvSpPr/>
          <p:nvPr/>
        </p:nvSpPr>
        <p:spPr>
          <a:xfrm>
            <a:off x="4114800" y="1463040"/>
            <a:ext cx="7528255" cy="731520"/>
          </a:xfrm>
          <a:prstGeom prst="roundRect">
            <a:avLst>
              <a:gd name="adj" fmla="val 15000"/>
            </a:avLst>
          </a:prstGeom>
          <a:solidFill>
            <a:schemeClr val="bg2"/>
          </a:solidFill>
          <a:ln/>
        </p:spPr>
      </p:sp>
      <p:sp>
        <p:nvSpPr>
          <p:cNvPr id="9" name="분과명 총무"/>
          <p:cNvSpPr/>
          <p:nvPr/>
        </p:nvSpPr>
        <p:spPr>
          <a:xfrm>
            <a:off x="4297680" y="1591056"/>
            <a:ext cx="1554480" cy="475488"/>
          </a:xfrm>
          <a:prstGeom prst="roundRect">
            <a:avLst>
              <a:gd name="adj" fmla="val 19231"/>
            </a:avLst>
          </a:prstGeom>
          <a:solidFill>
            <a:schemeClr val="accent1"/>
          </a:solidFill>
          <a:ln/>
        </p:spPr>
        <p:txBody>
          <a:bodyPr wrap="square" lIns="0" tIns="0" rIns="0" bIns="0" rtlCol="0" anchor="ctr"/>
          <a:lstStyle/>
          <a:p>
            <a:pPr marL="0" indent="0" algn="ctr">
              <a:buNone/>
            </a:pPr>
            <a:r>
              <a:rPr lang="en-US" sz="1600" b="1" dirty="0">
                <a:solidFill>
                  <a:schemeClr val="bg1"/>
                </a:solidFill>
              </a:rPr>
              <a:t>총무</a:t>
            </a:r>
            <a:endParaRPr lang="en-US" sz="1600" dirty="0"/>
          </a:p>
        </p:txBody>
      </p:sp>
      <p:sp>
        <p:nvSpPr>
          <p:cNvPr id="10" name="분과 설명 총무"/>
          <p:cNvSpPr txBox="1"/>
          <p:nvPr/>
        </p:nvSpPr>
        <p:spPr>
          <a:xfrm>
            <a:off x="6080760" y="1463040"/>
            <a:ext cx="5394960" cy="731520"/>
          </a:xfrm>
          <a:prstGeom prst="rect">
            <a:avLst/>
          </a:prstGeom>
          <a:noFill/>
          <a:ln/>
        </p:spPr>
        <p:txBody>
          <a:bodyPr wrap="square" lIns="0" tIns="0" rIns="0" bIns="0" rtlCol="0" anchor="ctr"/>
          <a:lstStyle/>
          <a:p>
            <a:pPr marL="0" indent="0">
              <a:buNone/>
            </a:pPr>
            <a:r>
              <a:rPr lang="en-US" sz="1400" dirty="0">
                <a:solidFill>
                  <a:schemeClr val="tx2"/>
                </a:solidFill>
              </a:rPr>
              <a:t>예산·회계, 회원 관리, 회의 소집 등 학회 살림 총괄</a:t>
            </a:r>
            <a:endParaRPr lang="en-US" sz="1400" dirty="0"/>
          </a:p>
        </p:txBody>
      </p:sp>
      <p:sp>
        <p:nvSpPr>
          <p:cNvPr id="11" name="분과 행 2"/>
          <p:cNvSpPr/>
          <p:nvPr/>
        </p:nvSpPr>
        <p:spPr>
          <a:xfrm>
            <a:off x="4114800" y="2276856"/>
            <a:ext cx="7528255" cy="731520"/>
          </a:xfrm>
          <a:prstGeom prst="roundRect">
            <a:avLst>
              <a:gd name="adj" fmla="val 15000"/>
            </a:avLst>
          </a:prstGeom>
          <a:solidFill>
            <a:schemeClr val="bg2"/>
          </a:solidFill>
          <a:ln/>
        </p:spPr>
      </p:sp>
      <p:sp>
        <p:nvSpPr>
          <p:cNvPr id="12" name="분과명 학술"/>
          <p:cNvSpPr/>
          <p:nvPr/>
        </p:nvSpPr>
        <p:spPr>
          <a:xfrm>
            <a:off x="4297680" y="2404872"/>
            <a:ext cx="1554480" cy="475488"/>
          </a:xfrm>
          <a:prstGeom prst="roundRect">
            <a:avLst>
              <a:gd name="adj" fmla="val 19231"/>
            </a:avLst>
          </a:prstGeom>
          <a:solidFill>
            <a:schemeClr val="accent1"/>
          </a:solidFill>
          <a:ln/>
        </p:spPr>
        <p:txBody>
          <a:bodyPr wrap="square" lIns="0" tIns="0" rIns="0" bIns="0" rtlCol="0" anchor="ctr"/>
          <a:lstStyle/>
          <a:p>
            <a:pPr marL="0" indent="0" algn="ctr">
              <a:buNone/>
            </a:pPr>
            <a:r>
              <a:rPr lang="en-US" sz="1600" b="1" dirty="0">
                <a:solidFill>
                  <a:schemeClr val="bg1"/>
                </a:solidFill>
              </a:rPr>
              <a:t>학술</a:t>
            </a:r>
            <a:endParaRPr lang="en-US" sz="1600" dirty="0"/>
          </a:p>
        </p:txBody>
      </p:sp>
      <p:sp>
        <p:nvSpPr>
          <p:cNvPr id="13" name="분과 설명 학술"/>
          <p:cNvSpPr txBox="1"/>
          <p:nvPr/>
        </p:nvSpPr>
        <p:spPr>
          <a:xfrm>
            <a:off x="6080760" y="2276856"/>
            <a:ext cx="5394960" cy="731520"/>
          </a:xfrm>
          <a:prstGeom prst="rect">
            <a:avLst/>
          </a:prstGeom>
          <a:noFill/>
          <a:ln/>
        </p:spPr>
        <p:txBody>
          <a:bodyPr wrap="square" lIns="0" tIns="0" rIns="0" bIns="0" rtlCol="0" anchor="ctr"/>
          <a:lstStyle/>
          <a:p>
            <a:pPr marL="0" indent="0">
              <a:buNone/>
            </a:pPr>
            <a:r>
              <a:rPr lang="en-US" sz="1400" dirty="0">
                <a:solidFill>
                  <a:schemeClr val="tx2"/>
                </a:solidFill>
              </a:rPr>
              <a:t>학술대회 프로그램 기획, 기조강연자·연사 초빙</a:t>
            </a:r>
            <a:endParaRPr lang="en-US" sz="1400" dirty="0"/>
          </a:p>
        </p:txBody>
      </p:sp>
      <p:sp>
        <p:nvSpPr>
          <p:cNvPr id="14" name="분과 행 3"/>
          <p:cNvSpPr/>
          <p:nvPr/>
        </p:nvSpPr>
        <p:spPr>
          <a:xfrm>
            <a:off x="4114800" y="3090672"/>
            <a:ext cx="7528255" cy="731520"/>
          </a:xfrm>
          <a:prstGeom prst="roundRect">
            <a:avLst>
              <a:gd name="adj" fmla="val 15000"/>
            </a:avLst>
          </a:prstGeom>
          <a:solidFill>
            <a:schemeClr val="bg2"/>
          </a:solidFill>
          <a:ln/>
        </p:spPr>
      </p:sp>
      <p:sp>
        <p:nvSpPr>
          <p:cNvPr id="15" name="분과명 편집"/>
          <p:cNvSpPr/>
          <p:nvPr/>
        </p:nvSpPr>
        <p:spPr>
          <a:xfrm>
            <a:off x="4297680" y="3218688"/>
            <a:ext cx="1554480" cy="475488"/>
          </a:xfrm>
          <a:prstGeom prst="roundRect">
            <a:avLst>
              <a:gd name="adj" fmla="val 19231"/>
            </a:avLst>
          </a:prstGeom>
          <a:solidFill>
            <a:schemeClr val="accent1"/>
          </a:solidFill>
          <a:ln/>
        </p:spPr>
        <p:txBody>
          <a:bodyPr wrap="square" lIns="0" tIns="0" rIns="0" bIns="0" rtlCol="0" anchor="ctr"/>
          <a:lstStyle/>
          <a:p>
            <a:pPr marL="0" indent="0" algn="ctr">
              <a:buNone/>
            </a:pPr>
            <a:r>
              <a:rPr lang="en-US" sz="1600" b="1" dirty="0">
                <a:solidFill>
                  <a:schemeClr val="bg1"/>
                </a:solidFill>
              </a:rPr>
              <a:t>편집</a:t>
            </a:r>
            <a:endParaRPr lang="en-US" sz="1600" dirty="0"/>
          </a:p>
        </p:txBody>
      </p:sp>
      <p:sp>
        <p:nvSpPr>
          <p:cNvPr id="16" name="분과 설명 편집"/>
          <p:cNvSpPr txBox="1"/>
          <p:nvPr/>
        </p:nvSpPr>
        <p:spPr>
          <a:xfrm>
            <a:off x="6080760" y="3090672"/>
            <a:ext cx="5394960" cy="731520"/>
          </a:xfrm>
          <a:prstGeom prst="rect">
            <a:avLst/>
          </a:prstGeom>
          <a:noFill/>
          <a:ln/>
        </p:spPr>
        <p:txBody>
          <a:bodyPr wrap="square" lIns="0" tIns="0" rIns="0" bIns="0" rtlCol="0" anchor="ctr"/>
          <a:lstStyle/>
          <a:p>
            <a:pPr marL="0" indent="0">
              <a:buNone/>
            </a:pPr>
            <a:r>
              <a:rPr lang="en-US" sz="1400" dirty="0">
                <a:solidFill>
                  <a:schemeClr val="tx2"/>
                </a:solidFill>
              </a:rPr>
              <a:t>공식 자료집 편찬, 회의록 기록, 학술지 창간 준비</a:t>
            </a:r>
            <a:endParaRPr lang="en-US" sz="1400" dirty="0"/>
          </a:p>
        </p:txBody>
      </p:sp>
      <p:sp>
        <p:nvSpPr>
          <p:cNvPr id="17" name="분과 행 4"/>
          <p:cNvSpPr/>
          <p:nvPr/>
        </p:nvSpPr>
        <p:spPr>
          <a:xfrm>
            <a:off x="4114800" y="3904488"/>
            <a:ext cx="7528255" cy="731520"/>
          </a:xfrm>
          <a:prstGeom prst="roundRect">
            <a:avLst>
              <a:gd name="adj" fmla="val 15000"/>
            </a:avLst>
          </a:prstGeom>
          <a:solidFill>
            <a:schemeClr val="bg2"/>
          </a:solidFill>
          <a:ln/>
        </p:spPr>
      </p:sp>
      <p:sp>
        <p:nvSpPr>
          <p:cNvPr id="18" name="분과명 사업"/>
          <p:cNvSpPr/>
          <p:nvPr/>
        </p:nvSpPr>
        <p:spPr>
          <a:xfrm>
            <a:off x="4297680" y="4032504"/>
            <a:ext cx="1554480" cy="475488"/>
          </a:xfrm>
          <a:prstGeom prst="roundRect">
            <a:avLst>
              <a:gd name="adj" fmla="val 19231"/>
            </a:avLst>
          </a:prstGeom>
          <a:solidFill>
            <a:schemeClr val="accent1"/>
          </a:solidFill>
          <a:ln/>
        </p:spPr>
        <p:txBody>
          <a:bodyPr wrap="square" lIns="0" tIns="0" rIns="0" bIns="0" rtlCol="0" anchor="ctr"/>
          <a:lstStyle/>
          <a:p>
            <a:pPr marL="0" indent="0" algn="ctr">
              <a:buNone/>
            </a:pPr>
            <a:r>
              <a:rPr lang="en-US" sz="1600" b="1" dirty="0">
                <a:solidFill>
                  <a:schemeClr val="bg1"/>
                </a:solidFill>
              </a:rPr>
              <a:t>사업</a:t>
            </a:r>
            <a:endParaRPr lang="en-US" sz="1600" dirty="0"/>
          </a:p>
        </p:txBody>
      </p:sp>
      <p:sp>
        <p:nvSpPr>
          <p:cNvPr id="19" name="분과 설명 사업"/>
          <p:cNvSpPr txBox="1"/>
          <p:nvPr/>
        </p:nvSpPr>
        <p:spPr>
          <a:xfrm>
            <a:off x="6080760" y="3904488"/>
            <a:ext cx="5394960" cy="731520"/>
          </a:xfrm>
          <a:prstGeom prst="rect">
            <a:avLst/>
          </a:prstGeom>
          <a:noFill/>
          <a:ln/>
        </p:spPr>
        <p:txBody>
          <a:bodyPr wrap="square" lIns="0" tIns="0" rIns="0" bIns="0" rtlCol="0" anchor="ctr"/>
          <a:lstStyle/>
          <a:p>
            <a:pPr marL="0" indent="0">
              <a:buNone/>
            </a:pPr>
            <a:r>
              <a:rPr lang="en-US" sz="1400" dirty="0">
                <a:solidFill>
                  <a:schemeClr val="tx2"/>
                </a:solidFill>
              </a:rPr>
              <a:t>총회·개폐회식 등 공식 행사와 특별 프로젝트 기획</a:t>
            </a:r>
            <a:endParaRPr lang="en-US" sz="1400" dirty="0"/>
          </a:p>
        </p:txBody>
      </p:sp>
      <p:sp>
        <p:nvSpPr>
          <p:cNvPr id="20" name="분과 행 5"/>
          <p:cNvSpPr/>
          <p:nvPr/>
        </p:nvSpPr>
        <p:spPr>
          <a:xfrm>
            <a:off x="4114800" y="4718304"/>
            <a:ext cx="7528255" cy="731520"/>
          </a:xfrm>
          <a:prstGeom prst="roundRect">
            <a:avLst>
              <a:gd name="adj" fmla="val 15000"/>
            </a:avLst>
          </a:prstGeom>
          <a:solidFill>
            <a:schemeClr val="bg2"/>
          </a:solidFill>
          <a:ln/>
        </p:spPr>
      </p:sp>
      <p:sp>
        <p:nvSpPr>
          <p:cNvPr id="21" name="분과명 대외협력"/>
          <p:cNvSpPr/>
          <p:nvPr/>
        </p:nvSpPr>
        <p:spPr>
          <a:xfrm>
            <a:off x="4297680" y="4846320"/>
            <a:ext cx="1554480" cy="475488"/>
          </a:xfrm>
          <a:prstGeom prst="roundRect">
            <a:avLst>
              <a:gd name="adj" fmla="val 19231"/>
            </a:avLst>
          </a:prstGeom>
          <a:solidFill>
            <a:schemeClr val="accent1"/>
          </a:solidFill>
          <a:ln/>
        </p:spPr>
        <p:txBody>
          <a:bodyPr wrap="square" lIns="0" tIns="0" rIns="0" bIns="0" rtlCol="0" anchor="ctr"/>
          <a:lstStyle/>
          <a:p>
            <a:pPr marL="0" indent="0" algn="ctr">
              <a:buNone/>
            </a:pPr>
            <a:r>
              <a:rPr lang="en-US" sz="1600" b="1" dirty="0">
                <a:solidFill>
                  <a:schemeClr val="bg1"/>
                </a:solidFill>
              </a:rPr>
              <a:t>대외협력</a:t>
            </a:r>
            <a:endParaRPr lang="en-US" sz="1600" dirty="0"/>
          </a:p>
        </p:txBody>
      </p:sp>
      <p:sp>
        <p:nvSpPr>
          <p:cNvPr id="22" name="분과 설명 대외협력"/>
          <p:cNvSpPr txBox="1"/>
          <p:nvPr/>
        </p:nvSpPr>
        <p:spPr>
          <a:xfrm>
            <a:off x="6080760" y="4718304"/>
            <a:ext cx="5394960" cy="731520"/>
          </a:xfrm>
          <a:prstGeom prst="rect">
            <a:avLst/>
          </a:prstGeom>
          <a:noFill/>
          <a:ln/>
        </p:spPr>
        <p:txBody>
          <a:bodyPr wrap="square" lIns="0" tIns="0" rIns="0" bIns="0" rtlCol="0" anchor="ctr"/>
          <a:lstStyle/>
          <a:p>
            <a:pPr marL="0" indent="0">
              <a:buNone/>
            </a:pPr>
            <a:r>
              <a:rPr lang="en-US" sz="1400" dirty="0">
                <a:solidFill>
                  <a:schemeClr val="tx2"/>
                </a:solidFill>
              </a:rPr>
              <a:t>PCST Network 등 해외 단체, 출연연·유관 단체와 교류</a:t>
            </a:r>
            <a:endParaRPr lang="en-US" sz="1400" dirty="0"/>
          </a:p>
        </p:txBody>
      </p:sp>
      <p:sp>
        <p:nvSpPr>
          <p:cNvPr id="23" name="분과 행 6"/>
          <p:cNvSpPr/>
          <p:nvPr/>
        </p:nvSpPr>
        <p:spPr>
          <a:xfrm>
            <a:off x="4114800" y="5532120"/>
            <a:ext cx="7528255" cy="731520"/>
          </a:xfrm>
          <a:prstGeom prst="roundRect">
            <a:avLst>
              <a:gd name="adj" fmla="val 15000"/>
            </a:avLst>
          </a:prstGeom>
          <a:solidFill>
            <a:schemeClr val="bg2"/>
          </a:solidFill>
          <a:ln/>
        </p:spPr>
      </p:sp>
      <p:sp>
        <p:nvSpPr>
          <p:cNvPr id="24" name="분과명 홍보"/>
          <p:cNvSpPr/>
          <p:nvPr/>
        </p:nvSpPr>
        <p:spPr>
          <a:xfrm>
            <a:off x="4297680" y="5660136"/>
            <a:ext cx="1554480" cy="475488"/>
          </a:xfrm>
          <a:prstGeom prst="roundRect">
            <a:avLst>
              <a:gd name="adj" fmla="val 19231"/>
            </a:avLst>
          </a:prstGeom>
          <a:solidFill>
            <a:schemeClr val="accent1"/>
          </a:solidFill>
          <a:ln/>
        </p:spPr>
        <p:txBody>
          <a:bodyPr wrap="square" lIns="0" tIns="0" rIns="0" bIns="0" rtlCol="0" anchor="ctr"/>
          <a:lstStyle/>
          <a:p>
            <a:pPr marL="0" indent="0" algn="ctr">
              <a:buNone/>
            </a:pPr>
            <a:r>
              <a:rPr lang="en-US" sz="1600" b="1" dirty="0">
                <a:solidFill>
                  <a:schemeClr val="bg1"/>
                </a:solidFill>
              </a:rPr>
              <a:t>홍보</a:t>
            </a:r>
            <a:endParaRPr lang="en-US" sz="1600" dirty="0"/>
          </a:p>
        </p:txBody>
      </p:sp>
      <p:sp>
        <p:nvSpPr>
          <p:cNvPr id="25" name="분과 설명 홍보"/>
          <p:cNvSpPr txBox="1"/>
          <p:nvPr/>
        </p:nvSpPr>
        <p:spPr>
          <a:xfrm>
            <a:off x="6080760" y="5532120"/>
            <a:ext cx="5394960" cy="731520"/>
          </a:xfrm>
          <a:prstGeom prst="rect">
            <a:avLst/>
          </a:prstGeom>
          <a:noFill/>
          <a:ln/>
        </p:spPr>
        <p:txBody>
          <a:bodyPr wrap="square" lIns="0" tIns="0" rIns="0" bIns="0" rtlCol="0" anchor="ctr"/>
          <a:lstStyle/>
          <a:p>
            <a:pPr marL="0" indent="0">
              <a:buNone/>
            </a:pPr>
            <a:r>
              <a:rPr lang="en-US" sz="1400" dirty="0">
                <a:solidFill>
                  <a:schemeClr val="tx2"/>
                </a:solidFill>
              </a:rPr>
              <a:t>보도자료·홈페이지, 후원·스폰서십 유치</a:t>
            </a:r>
            <a:endParaRPr lang="en-US" sz="1400" dirty="0"/>
          </a:p>
        </p:txBody>
      </p:sp>
      <p:sp>
        <p:nvSpPr>
          <p:cNvPr id="26"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ANNUAL CYCLE</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연간 운영 사이클</a:t>
            </a:r>
            <a:endParaRPr lang="en-US" sz="3200" dirty="0"/>
          </a:p>
        </p:txBody>
      </p:sp>
      <p:sp>
        <p:nvSpPr>
          <p:cNvPr id="4" name="단계 카드 1"/>
          <p:cNvSpPr/>
          <p:nvPr/>
        </p:nvSpPr>
        <p:spPr>
          <a:xfrm>
            <a:off x="548640" y="1463040"/>
            <a:ext cx="3520440" cy="3520440"/>
          </a:xfrm>
          <a:prstGeom prst="roundRect">
            <a:avLst>
              <a:gd name="adj" fmla="val 3117"/>
            </a:avLst>
          </a:prstGeom>
          <a:solidFill>
            <a:schemeClr val="bg2"/>
          </a:solidFill>
          <a:ln/>
        </p:spPr>
      </p:sp>
      <p:sp>
        <p:nvSpPr>
          <p:cNvPr id="5" name="단계 번호 1"/>
          <p:cNvSpPr/>
          <p:nvPr/>
        </p:nvSpPr>
        <p:spPr>
          <a:xfrm>
            <a:off x="822960"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6" name="단계 제목 1"/>
          <p:cNvSpPr txBox="1"/>
          <p:nvPr/>
        </p:nvSpPr>
        <p:spPr>
          <a:xfrm>
            <a:off x="1645920" y="1691640"/>
            <a:ext cx="2286000" cy="365760"/>
          </a:xfrm>
          <a:prstGeom prst="rect">
            <a:avLst/>
          </a:prstGeom>
          <a:noFill/>
          <a:ln/>
        </p:spPr>
        <p:txBody>
          <a:bodyPr wrap="square" lIns="0" tIns="0" rIns="0" bIns="0" rtlCol="0" anchor="t"/>
          <a:lstStyle/>
          <a:p>
            <a:pPr marL="0" indent="0">
              <a:buNone/>
            </a:pPr>
            <a:r>
              <a:rPr lang="en-US" sz="2000" b="1" dirty="0">
                <a:solidFill>
                  <a:schemeClr val="tx1"/>
                </a:solidFill>
              </a:rPr>
              <a:t>기획·실행</a:t>
            </a:r>
            <a:endParaRPr lang="en-US" sz="2000" dirty="0"/>
          </a:p>
        </p:txBody>
      </p:sp>
      <p:sp>
        <p:nvSpPr>
          <p:cNvPr id="7" name="담당 1"/>
          <p:cNvSpPr txBox="1"/>
          <p:nvPr/>
        </p:nvSpPr>
        <p:spPr>
          <a:xfrm>
            <a:off x="1645920" y="2057400"/>
            <a:ext cx="2286000" cy="274320"/>
          </a:xfrm>
          <a:prstGeom prst="rect">
            <a:avLst/>
          </a:prstGeom>
          <a:noFill/>
          <a:ln/>
        </p:spPr>
        <p:txBody>
          <a:bodyPr wrap="square" lIns="0" tIns="0" rIns="0" bIns="0" rtlCol="0" anchor="t"/>
          <a:lstStyle/>
          <a:p>
            <a:pPr marL="0" indent="0">
              <a:buNone/>
            </a:pPr>
            <a:r>
              <a:rPr lang="en-US" sz="1400" b="1" dirty="0" err="1">
                <a:solidFill>
                  <a:schemeClr val="accent1"/>
                </a:solidFill>
              </a:rPr>
              <a:t>운영위원회</a:t>
            </a:r>
            <a:r>
              <a:rPr lang="en-US" sz="1400" b="1" dirty="0">
                <a:solidFill>
                  <a:schemeClr val="accent1"/>
                </a:solidFill>
              </a:rPr>
              <a:t>, </a:t>
            </a:r>
            <a:r>
              <a:rPr lang="ko-KR" altLang="en-US" sz="1400" b="1" dirty="0">
                <a:solidFill>
                  <a:schemeClr val="accent1"/>
                </a:solidFill>
              </a:rPr>
              <a:t>상임위원회</a:t>
            </a:r>
            <a:endParaRPr lang="en-US" sz="1400" dirty="0"/>
          </a:p>
        </p:txBody>
      </p:sp>
      <p:sp>
        <p:nvSpPr>
          <p:cNvPr id="8" name="단계 설명 1"/>
          <p:cNvSpPr txBox="1"/>
          <p:nvPr/>
        </p:nvSpPr>
        <p:spPr>
          <a:xfrm>
            <a:off x="822960" y="2560320"/>
            <a:ext cx="3017520" cy="1234440"/>
          </a:xfrm>
          <a:prstGeom prst="rect">
            <a:avLst/>
          </a:prstGeom>
          <a:noFill/>
          <a:ln/>
        </p:spPr>
        <p:txBody>
          <a:bodyPr wrap="square" lIns="0" tIns="0" rIns="0" bIns="0" rtlCol="0" anchor="t"/>
          <a:lstStyle/>
          <a:p>
            <a:pPr marL="0" indent="0">
              <a:buNone/>
            </a:pPr>
            <a:r>
              <a:rPr lang="en-US" sz="1400" dirty="0">
                <a:solidFill>
                  <a:schemeClr val="tx2"/>
                </a:solidFill>
              </a:rPr>
              <a:t>학술대회 기획안 도출, 연사 섭외, 세션 운영과 현장 총괄. 학술지 심사·발간도 담당</a:t>
            </a:r>
            <a:endParaRPr lang="en-US" sz="1400" dirty="0"/>
          </a:p>
        </p:txBody>
      </p:sp>
      <p:sp>
        <p:nvSpPr>
          <p:cNvPr id="9" name="수치 칩 1"/>
          <p:cNvSpPr/>
          <p:nvPr/>
        </p:nvSpPr>
        <p:spPr>
          <a:xfrm>
            <a:off x="777240" y="3931920"/>
            <a:ext cx="3063240" cy="868680"/>
          </a:xfrm>
          <a:prstGeom prst="roundRect">
            <a:avLst>
              <a:gd name="adj" fmla="val 12632"/>
            </a:avLst>
          </a:prstGeom>
          <a:solidFill>
            <a:schemeClr val="bg1"/>
          </a:solidFill>
          <a:ln/>
        </p:spPr>
      </p:sp>
      <p:sp>
        <p:nvSpPr>
          <p:cNvPr id="10" name="수치 1"/>
          <p:cNvSpPr txBox="1"/>
          <p:nvPr/>
        </p:nvSpPr>
        <p:spPr>
          <a:xfrm>
            <a:off x="914400" y="3931920"/>
            <a:ext cx="1234440" cy="868680"/>
          </a:xfrm>
          <a:prstGeom prst="rect">
            <a:avLst/>
          </a:prstGeom>
          <a:noFill/>
          <a:ln/>
        </p:spPr>
        <p:txBody>
          <a:bodyPr wrap="square" lIns="0" tIns="0" rIns="0" bIns="0" rtlCol="0" anchor="ctr"/>
          <a:lstStyle/>
          <a:p>
            <a:pPr marL="0" indent="0">
              <a:buNone/>
            </a:pPr>
            <a:r>
              <a:rPr lang="en-US" sz="2400" b="1" dirty="0">
                <a:solidFill>
                  <a:schemeClr val="accent1"/>
                </a:solidFill>
              </a:rPr>
              <a:t>6+2회</a:t>
            </a:r>
            <a:endParaRPr lang="en-US" sz="2400" dirty="0"/>
          </a:p>
        </p:txBody>
      </p:sp>
      <p:sp>
        <p:nvSpPr>
          <p:cNvPr id="11" name="수치 설명 1"/>
          <p:cNvSpPr txBox="1"/>
          <p:nvPr/>
        </p:nvSpPr>
        <p:spPr>
          <a:xfrm>
            <a:off x="2194560" y="3931920"/>
            <a:ext cx="1554480" cy="868680"/>
          </a:xfrm>
          <a:prstGeom prst="rect">
            <a:avLst/>
          </a:prstGeom>
          <a:noFill/>
          <a:ln/>
        </p:spPr>
        <p:txBody>
          <a:bodyPr wrap="square" lIns="0" tIns="0" rIns="0" bIns="0" rtlCol="0" anchor="ctr"/>
          <a:lstStyle/>
          <a:p>
            <a:pPr marL="0" indent="0">
              <a:buNone/>
            </a:pPr>
            <a:r>
              <a:rPr lang="en-US" sz="1200" dirty="0">
                <a:solidFill>
                  <a:schemeClr val="tx2"/>
                </a:solidFill>
              </a:rPr>
              <a:t>연간 대면 6회 + 온라인 2회 회의</a:t>
            </a:r>
            <a:endParaRPr lang="en-US" sz="1200" dirty="0"/>
          </a:p>
        </p:txBody>
      </p:sp>
      <p:sp>
        <p:nvSpPr>
          <p:cNvPr id="12" name="단계 카드 2"/>
          <p:cNvSpPr/>
          <p:nvPr/>
        </p:nvSpPr>
        <p:spPr>
          <a:xfrm>
            <a:off x="4334256" y="1463040"/>
            <a:ext cx="3520440" cy="3520440"/>
          </a:xfrm>
          <a:prstGeom prst="roundRect">
            <a:avLst>
              <a:gd name="adj" fmla="val 3117"/>
            </a:avLst>
          </a:prstGeom>
          <a:solidFill>
            <a:schemeClr val="bg2"/>
          </a:solidFill>
          <a:ln/>
        </p:spPr>
      </p:sp>
      <p:sp>
        <p:nvSpPr>
          <p:cNvPr id="13" name="단계 번호 2"/>
          <p:cNvSpPr/>
          <p:nvPr/>
        </p:nvSpPr>
        <p:spPr>
          <a:xfrm>
            <a:off x="4608576"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4" name="단계 제목 2"/>
          <p:cNvSpPr txBox="1"/>
          <p:nvPr/>
        </p:nvSpPr>
        <p:spPr>
          <a:xfrm>
            <a:off x="5431536" y="1691640"/>
            <a:ext cx="2286000" cy="365760"/>
          </a:xfrm>
          <a:prstGeom prst="rect">
            <a:avLst/>
          </a:prstGeom>
          <a:noFill/>
          <a:ln/>
        </p:spPr>
        <p:txBody>
          <a:bodyPr wrap="square" lIns="0" tIns="0" rIns="0" bIns="0" rtlCol="0" anchor="t"/>
          <a:lstStyle/>
          <a:p>
            <a:pPr marL="0" indent="0">
              <a:buNone/>
            </a:pPr>
            <a:r>
              <a:rPr lang="en-US" sz="2000" b="1" dirty="0">
                <a:solidFill>
                  <a:schemeClr val="tx1"/>
                </a:solidFill>
              </a:rPr>
              <a:t>승인·결정</a:t>
            </a:r>
            <a:endParaRPr lang="en-US" sz="2000" dirty="0"/>
          </a:p>
        </p:txBody>
      </p:sp>
      <p:sp>
        <p:nvSpPr>
          <p:cNvPr id="15" name="담당 2"/>
          <p:cNvSpPr txBox="1"/>
          <p:nvPr/>
        </p:nvSpPr>
        <p:spPr>
          <a:xfrm>
            <a:off x="5431536" y="2057400"/>
            <a:ext cx="2286000" cy="274320"/>
          </a:xfrm>
          <a:prstGeom prst="rect">
            <a:avLst/>
          </a:prstGeom>
          <a:noFill/>
          <a:ln/>
        </p:spPr>
        <p:txBody>
          <a:bodyPr wrap="square" lIns="0" tIns="0" rIns="0" bIns="0" rtlCol="0" anchor="t"/>
          <a:lstStyle/>
          <a:p>
            <a:pPr marL="0" indent="0">
              <a:buNone/>
            </a:pPr>
            <a:r>
              <a:rPr lang="en-US" sz="1400" b="1" dirty="0">
                <a:solidFill>
                  <a:schemeClr val="accent1"/>
                </a:solidFill>
              </a:rPr>
              <a:t>이사회</a:t>
            </a:r>
            <a:endParaRPr lang="en-US" sz="1400" dirty="0"/>
          </a:p>
        </p:txBody>
      </p:sp>
      <p:sp>
        <p:nvSpPr>
          <p:cNvPr id="16" name="단계 설명 2"/>
          <p:cNvSpPr txBox="1"/>
          <p:nvPr/>
        </p:nvSpPr>
        <p:spPr>
          <a:xfrm>
            <a:off x="4608576" y="2560320"/>
            <a:ext cx="3017520" cy="1234440"/>
          </a:xfrm>
          <a:prstGeom prst="rect">
            <a:avLst/>
          </a:prstGeom>
          <a:noFill/>
          <a:ln/>
        </p:spPr>
        <p:txBody>
          <a:bodyPr wrap="square" lIns="0" tIns="0" rIns="0" bIns="0" rtlCol="0" anchor="t"/>
          <a:lstStyle/>
          <a:p>
            <a:pPr marL="0" indent="0">
              <a:buNone/>
            </a:pPr>
            <a:r>
              <a:rPr lang="en-US" sz="1400" dirty="0">
                <a:solidFill>
                  <a:schemeClr val="tx2"/>
                </a:solidFill>
              </a:rPr>
              <a:t>운영위원회가 올린 기획안(주제·세션·연사)을 검토·승인하고 대외 방향을 확정</a:t>
            </a:r>
            <a:endParaRPr lang="en-US" sz="1400" dirty="0"/>
          </a:p>
        </p:txBody>
      </p:sp>
      <p:sp>
        <p:nvSpPr>
          <p:cNvPr id="17" name="수치 칩 2"/>
          <p:cNvSpPr/>
          <p:nvPr/>
        </p:nvSpPr>
        <p:spPr>
          <a:xfrm>
            <a:off x="4562856" y="3931920"/>
            <a:ext cx="3063240" cy="868680"/>
          </a:xfrm>
          <a:prstGeom prst="roundRect">
            <a:avLst>
              <a:gd name="adj" fmla="val 12632"/>
            </a:avLst>
          </a:prstGeom>
          <a:solidFill>
            <a:schemeClr val="bg1"/>
          </a:solidFill>
          <a:ln/>
        </p:spPr>
      </p:sp>
      <p:sp>
        <p:nvSpPr>
          <p:cNvPr id="18" name="수치 2"/>
          <p:cNvSpPr txBox="1"/>
          <p:nvPr/>
        </p:nvSpPr>
        <p:spPr>
          <a:xfrm>
            <a:off x="4700016" y="3931920"/>
            <a:ext cx="1234440" cy="868680"/>
          </a:xfrm>
          <a:prstGeom prst="rect">
            <a:avLst/>
          </a:prstGeom>
          <a:noFill/>
          <a:ln/>
        </p:spPr>
        <p:txBody>
          <a:bodyPr wrap="square" lIns="0" tIns="0" rIns="0" bIns="0" rtlCol="0" anchor="ctr"/>
          <a:lstStyle/>
          <a:p>
            <a:pPr marL="0" indent="0">
              <a:buNone/>
            </a:pPr>
            <a:r>
              <a:rPr lang="en-US" sz="2400" b="1" dirty="0">
                <a:solidFill>
                  <a:schemeClr val="accent1"/>
                </a:solidFill>
              </a:rPr>
              <a:t>연 2회</a:t>
            </a:r>
            <a:endParaRPr lang="en-US" sz="2400" dirty="0"/>
          </a:p>
        </p:txBody>
      </p:sp>
      <p:sp>
        <p:nvSpPr>
          <p:cNvPr id="19" name="수치 설명 2"/>
          <p:cNvSpPr txBox="1"/>
          <p:nvPr/>
        </p:nvSpPr>
        <p:spPr>
          <a:xfrm>
            <a:off x="5980176" y="3931920"/>
            <a:ext cx="1554480" cy="868680"/>
          </a:xfrm>
          <a:prstGeom prst="rect">
            <a:avLst/>
          </a:prstGeom>
          <a:noFill/>
          <a:ln/>
        </p:spPr>
        <p:txBody>
          <a:bodyPr wrap="square" lIns="0" tIns="0" rIns="0" bIns="0" rtlCol="0" anchor="ctr"/>
          <a:lstStyle/>
          <a:p>
            <a:pPr marL="0" indent="0">
              <a:buNone/>
            </a:pPr>
            <a:r>
              <a:rPr lang="en-US" sz="1200" dirty="0">
                <a:solidFill>
                  <a:schemeClr val="tx2"/>
                </a:solidFill>
              </a:rPr>
              <a:t>대면 1 + 온라인 1, 필요 시 임시 이사회</a:t>
            </a:r>
            <a:endParaRPr lang="en-US" sz="1200" dirty="0"/>
          </a:p>
        </p:txBody>
      </p:sp>
      <p:sp>
        <p:nvSpPr>
          <p:cNvPr id="20" name="단계 카드 3"/>
          <p:cNvSpPr/>
          <p:nvPr/>
        </p:nvSpPr>
        <p:spPr>
          <a:xfrm>
            <a:off x="8119872" y="1463040"/>
            <a:ext cx="3520440" cy="3520440"/>
          </a:xfrm>
          <a:prstGeom prst="roundRect">
            <a:avLst>
              <a:gd name="adj" fmla="val 3117"/>
            </a:avLst>
          </a:prstGeom>
          <a:solidFill>
            <a:schemeClr val="bg2"/>
          </a:solidFill>
          <a:ln/>
        </p:spPr>
      </p:sp>
      <p:sp>
        <p:nvSpPr>
          <p:cNvPr id="21" name="단계 번호 3"/>
          <p:cNvSpPr/>
          <p:nvPr/>
        </p:nvSpPr>
        <p:spPr>
          <a:xfrm>
            <a:off x="8394192" y="1691640"/>
            <a:ext cx="640080" cy="640080"/>
          </a:xfrm>
          <a:prstGeom prst="ellipse">
            <a:avLst/>
          </a:prstGeom>
          <a:solidFill>
            <a:schemeClr val="accent1"/>
          </a:solid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22" name="단계 제목 3"/>
          <p:cNvSpPr txBox="1"/>
          <p:nvPr/>
        </p:nvSpPr>
        <p:spPr>
          <a:xfrm>
            <a:off x="9217152" y="1691640"/>
            <a:ext cx="2286000" cy="365760"/>
          </a:xfrm>
          <a:prstGeom prst="rect">
            <a:avLst/>
          </a:prstGeom>
          <a:noFill/>
          <a:ln/>
        </p:spPr>
        <p:txBody>
          <a:bodyPr wrap="square" lIns="0" tIns="0" rIns="0" bIns="0" rtlCol="0" anchor="t"/>
          <a:lstStyle/>
          <a:p>
            <a:pPr marL="0" indent="0">
              <a:buNone/>
            </a:pPr>
            <a:r>
              <a:rPr lang="en-US" sz="2000" b="1" dirty="0">
                <a:solidFill>
                  <a:schemeClr val="tx1"/>
                </a:solidFill>
              </a:rPr>
              <a:t>공유·피드백</a:t>
            </a:r>
            <a:endParaRPr lang="en-US" sz="2000" dirty="0"/>
          </a:p>
        </p:txBody>
      </p:sp>
      <p:sp>
        <p:nvSpPr>
          <p:cNvPr id="23" name="담당 3"/>
          <p:cNvSpPr txBox="1"/>
          <p:nvPr/>
        </p:nvSpPr>
        <p:spPr>
          <a:xfrm>
            <a:off x="9217152" y="2057400"/>
            <a:ext cx="2286000" cy="274320"/>
          </a:xfrm>
          <a:prstGeom prst="rect">
            <a:avLst/>
          </a:prstGeom>
          <a:noFill/>
          <a:ln/>
        </p:spPr>
        <p:txBody>
          <a:bodyPr wrap="square" lIns="0" tIns="0" rIns="0" bIns="0" rtlCol="0" anchor="t"/>
          <a:lstStyle/>
          <a:p>
            <a:pPr marL="0" indent="0">
              <a:buNone/>
            </a:pPr>
            <a:r>
              <a:rPr lang="en-US" sz="1400" b="1" dirty="0">
                <a:solidFill>
                  <a:schemeClr val="accent1"/>
                </a:solidFill>
              </a:rPr>
              <a:t>자문단</a:t>
            </a:r>
            <a:endParaRPr lang="en-US" sz="1400" dirty="0"/>
          </a:p>
        </p:txBody>
      </p:sp>
      <p:sp>
        <p:nvSpPr>
          <p:cNvPr id="24" name="단계 설명 3"/>
          <p:cNvSpPr txBox="1"/>
          <p:nvPr/>
        </p:nvSpPr>
        <p:spPr>
          <a:xfrm>
            <a:off x="8394192" y="2560320"/>
            <a:ext cx="3017520" cy="1234440"/>
          </a:xfrm>
          <a:prstGeom prst="rect">
            <a:avLst/>
          </a:prstGeom>
          <a:noFill/>
          <a:ln/>
        </p:spPr>
        <p:txBody>
          <a:bodyPr wrap="square" lIns="0" tIns="0" rIns="0" bIns="0" rtlCol="0" anchor="t"/>
          <a:lstStyle/>
          <a:p>
            <a:pPr marL="0" indent="0">
              <a:buNone/>
            </a:pPr>
            <a:r>
              <a:rPr lang="en-US" sz="1400" dirty="0">
                <a:solidFill>
                  <a:schemeClr val="tx2"/>
                </a:solidFill>
              </a:rPr>
              <a:t>결정 사항을 공유받아 온·오프라인으로 의견을 내고, 학술대회 기간에 전용 모임 개최</a:t>
            </a:r>
            <a:endParaRPr lang="en-US" sz="1400" dirty="0"/>
          </a:p>
        </p:txBody>
      </p:sp>
      <p:sp>
        <p:nvSpPr>
          <p:cNvPr id="25" name="수치 칩 3"/>
          <p:cNvSpPr/>
          <p:nvPr/>
        </p:nvSpPr>
        <p:spPr>
          <a:xfrm>
            <a:off x="8348472" y="3931920"/>
            <a:ext cx="3063240" cy="868680"/>
          </a:xfrm>
          <a:prstGeom prst="roundRect">
            <a:avLst>
              <a:gd name="adj" fmla="val 12632"/>
            </a:avLst>
          </a:prstGeom>
          <a:solidFill>
            <a:schemeClr val="bg1"/>
          </a:solidFill>
          <a:ln/>
        </p:spPr>
      </p:sp>
      <p:sp>
        <p:nvSpPr>
          <p:cNvPr id="26" name="수치 3"/>
          <p:cNvSpPr txBox="1"/>
          <p:nvPr/>
        </p:nvSpPr>
        <p:spPr>
          <a:xfrm>
            <a:off x="8485632" y="3931920"/>
            <a:ext cx="1234440" cy="868680"/>
          </a:xfrm>
          <a:prstGeom prst="rect">
            <a:avLst/>
          </a:prstGeom>
          <a:noFill/>
          <a:ln/>
        </p:spPr>
        <p:txBody>
          <a:bodyPr wrap="square" lIns="0" tIns="0" rIns="0" bIns="0" rtlCol="0" anchor="ctr"/>
          <a:lstStyle/>
          <a:p>
            <a:pPr marL="0" indent="0">
              <a:buNone/>
            </a:pPr>
            <a:r>
              <a:rPr lang="en-US" sz="2400" b="1" dirty="0">
                <a:solidFill>
                  <a:schemeClr val="accent1"/>
                </a:solidFill>
              </a:rPr>
              <a:t>2주 내</a:t>
            </a:r>
            <a:endParaRPr lang="en-US" sz="2400" dirty="0"/>
          </a:p>
        </p:txBody>
      </p:sp>
      <p:sp>
        <p:nvSpPr>
          <p:cNvPr id="27" name="수치 설명 3"/>
          <p:cNvSpPr txBox="1"/>
          <p:nvPr/>
        </p:nvSpPr>
        <p:spPr>
          <a:xfrm>
            <a:off x="9765792" y="3931920"/>
            <a:ext cx="1554480" cy="868680"/>
          </a:xfrm>
          <a:prstGeom prst="rect">
            <a:avLst/>
          </a:prstGeom>
          <a:noFill/>
          <a:ln/>
        </p:spPr>
        <p:txBody>
          <a:bodyPr wrap="square" lIns="0" tIns="0" rIns="0" bIns="0" rtlCol="0" anchor="ctr"/>
          <a:lstStyle/>
          <a:p>
            <a:pPr marL="0" indent="0">
              <a:buNone/>
            </a:pPr>
            <a:r>
              <a:rPr lang="en-US" sz="1200" dirty="0">
                <a:solidFill>
                  <a:schemeClr val="tx2"/>
                </a:solidFill>
              </a:rPr>
              <a:t>이사회 결정 후 자문단에 공식 공유</a:t>
            </a:r>
            <a:endParaRPr lang="en-US" sz="1200" dirty="0"/>
          </a:p>
        </p:txBody>
      </p:sp>
      <p:sp>
        <p:nvSpPr>
          <p:cNvPr id="28" name="하단 배너"/>
          <p:cNvSpPr/>
          <p:nvPr/>
        </p:nvSpPr>
        <p:spPr>
          <a:xfrm>
            <a:off x="548640" y="5166360"/>
            <a:ext cx="11094415" cy="1097280"/>
          </a:xfrm>
          <a:prstGeom prst="roundRect">
            <a:avLst>
              <a:gd name="adj" fmla="val 10000"/>
            </a:avLst>
          </a:prstGeom>
          <a:solidFill>
            <a:schemeClr val="tx1"/>
          </a:solidFill>
          <a:ln/>
        </p:spPr>
      </p:sp>
      <p:sp>
        <p:nvSpPr>
          <p:cNvPr id="29" name="시기"/>
          <p:cNvSpPr txBox="1"/>
          <p:nvPr/>
        </p:nvSpPr>
        <p:spPr>
          <a:xfrm>
            <a:off x="914400" y="5166360"/>
            <a:ext cx="2743200" cy="1097280"/>
          </a:xfrm>
          <a:prstGeom prst="rect">
            <a:avLst/>
          </a:prstGeom>
          <a:noFill/>
          <a:ln/>
        </p:spPr>
        <p:txBody>
          <a:bodyPr wrap="square" lIns="0" tIns="0" rIns="0" bIns="0" rtlCol="0" anchor="ctr"/>
          <a:lstStyle/>
          <a:p>
            <a:pPr marL="0" indent="0">
              <a:buNone/>
            </a:pPr>
            <a:r>
              <a:rPr lang="en-US" sz="2000" b="1" dirty="0">
                <a:solidFill>
                  <a:schemeClr val="accent5"/>
                </a:solidFill>
              </a:rPr>
              <a:t>매년 10~11월경</a:t>
            </a:r>
            <a:endParaRPr lang="en-US" sz="2000" dirty="0"/>
          </a:p>
        </p:txBody>
      </p:sp>
      <p:sp>
        <p:nvSpPr>
          <p:cNvPr id="30" name="배너 설명"/>
          <p:cNvSpPr txBox="1"/>
          <p:nvPr/>
        </p:nvSpPr>
        <p:spPr>
          <a:xfrm>
            <a:off x="3657600" y="5166360"/>
            <a:ext cx="7589520" cy="1097280"/>
          </a:xfrm>
          <a:prstGeom prst="rect">
            <a:avLst/>
          </a:prstGeom>
          <a:noFill/>
          <a:ln/>
        </p:spPr>
        <p:txBody>
          <a:bodyPr wrap="square" lIns="0" tIns="0" rIns="0" bIns="0" rtlCol="0" anchor="ctr"/>
          <a:lstStyle/>
          <a:p>
            <a:pPr marL="0" indent="0">
              <a:buNone/>
            </a:pPr>
            <a:r>
              <a:rPr lang="en-US" sz="1500" dirty="0">
                <a:solidFill>
                  <a:schemeClr val="bg1"/>
                </a:solidFill>
              </a:rPr>
              <a:t>연 1회 정기 총회·학술대회와 전문 학술지 발간을 축으로 순환합니다. 출범 초기에는 편집분과 중심의 ‘학술지 창간 준비 체제’로 기틀을 다집니다.</a:t>
            </a:r>
            <a:endParaRPr lang="en-US" sz="1500" dirty="0"/>
          </a:p>
        </p:txBody>
      </p:sp>
      <p:sp>
        <p:nvSpPr>
          <p:cNvPr id="31"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FOUNDING CONFERENCE</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2026 창립대회 · 11월 17–18일</a:t>
            </a:r>
            <a:endParaRPr lang="en-US" sz="3200" dirty="0"/>
          </a:p>
        </p:txBody>
      </p:sp>
      <p:sp>
        <p:nvSpPr>
          <p:cNvPr id="4" name="일차 카드 1"/>
          <p:cNvSpPr/>
          <p:nvPr/>
        </p:nvSpPr>
        <p:spPr>
          <a:xfrm>
            <a:off x="548640" y="1463040"/>
            <a:ext cx="5440680" cy="3931920"/>
          </a:xfrm>
          <a:prstGeom prst="roundRect">
            <a:avLst>
              <a:gd name="adj" fmla="val 2791"/>
            </a:avLst>
          </a:prstGeom>
          <a:solidFill>
            <a:schemeClr val="tx1"/>
          </a:solidFill>
          <a:ln/>
        </p:spPr>
      </p:sp>
      <p:sp>
        <p:nvSpPr>
          <p:cNvPr id="5" name="날짜 17"/>
          <p:cNvSpPr txBox="1"/>
          <p:nvPr/>
        </p:nvSpPr>
        <p:spPr>
          <a:xfrm>
            <a:off x="914400" y="1645920"/>
            <a:ext cx="1371600" cy="914400"/>
          </a:xfrm>
          <a:prstGeom prst="rect">
            <a:avLst/>
          </a:prstGeom>
          <a:noFill/>
          <a:ln/>
        </p:spPr>
        <p:txBody>
          <a:bodyPr wrap="square" lIns="0" tIns="0" rIns="0" bIns="0" rtlCol="0" anchor="t"/>
          <a:lstStyle/>
          <a:p>
            <a:pPr marL="0" indent="0">
              <a:buNone/>
            </a:pPr>
            <a:r>
              <a:rPr lang="en-US" sz="6000" b="1" dirty="0">
                <a:solidFill>
                  <a:schemeClr val="accent5"/>
                </a:solidFill>
              </a:rPr>
              <a:t>17</a:t>
            </a:r>
            <a:endParaRPr lang="en-US" sz="6000" dirty="0"/>
          </a:p>
        </p:txBody>
      </p:sp>
      <p:sp>
        <p:nvSpPr>
          <p:cNvPr id="6" name="요일"/>
          <p:cNvSpPr txBox="1"/>
          <p:nvPr/>
        </p:nvSpPr>
        <p:spPr>
          <a:xfrm>
            <a:off x="914400" y="2606040"/>
            <a:ext cx="1371600" cy="320040"/>
          </a:xfrm>
          <a:prstGeom prst="rect">
            <a:avLst/>
          </a:prstGeom>
          <a:noFill/>
          <a:ln/>
        </p:spPr>
        <p:txBody>
          <a:bodyPr wrap="square" lIns="0" tIns="0" rIns="0" bIns="0" rtlCol="0" anchor="t"/>
          <a:lstStyle/>
          <a:p>
            <a:pPr marL="0" indent="0">
              <a:buNone/>
            </a:pPr>
            <a:r>
              <a:rPr lang="en-US" sz="1600" dirty="0">
                <a:solidFill>
                  <a:schemeClr val="bg1"/>
                </a:solidFill>
              </a:rPr>
              <a:t>화요일</a:t>
            </a:r>
            <a:endParaRPr lang="en-US" sz="1600" dirty="0"/>
          </a:p>
        </p:txBody>
      </p:sp>
      <p:sp>
        <p:nvSpPr>
          <p:cNvPr id="7" name="일정 제목 17"/>
          <p:cNvSpPr txBox="1"/>
          <p:nvPr/>
        </p:nvSpPr>
        <p:spPr>
          <a:xfrm>
            <a:off x="2377440" y="1828800"/>
            <a:ext cx="3383280" cy="914400"/>
          </a:xfrm>
          <a:prstGeom prst="rect">
            <a:avLst/>
          </a:prstGeom>
          <a:noFill/>
          <a:ln/>
        </p:spPr>
        <p:txBody>
          <a:bodyPr wrap="square" lIns="0" tIns="0" rIns="0" bIns="0" rtlCol="0" anchor="ctr"/>
          <a:lstStyle/>
          <a:p>
            <a:pPr marL="0" indent="0">
              <a:buNone/>
            </a:pPr>
            <a:r>
              <a:rPr lang="en-US" sz="2200" b="1" dirty="0">
                <a:solidFill>
                  <a:schemeClr val="bg1"/>
                </a:solidFill>
              </a:rPr>
              <a:t>PCST Asia 국제 토론회</a:t>
            </a:r>
            <a:endParaRPr lang="en-US" sz="2200" dirty="0"/>
          </a:p>
        </p:txBody>
      </p:sp>
      <p:sp>
        <p:nvSpPr>
          <p:cNvPr id="8" name="일정 목록 17"/>
          <p:cNvSpPr txBox="1"/>
          <p:nvPr/>
        </p:nvSpPr>
        <p:spPr>
          <a:xfrm>
            <a:off x="914400" y="3200400"/>
            <a:ext cx="470916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PCST Network의 Asia 멤버 초청 (일본·중국·인도·태국·인도네시아·말레이시아 등)</a:t>
            </a:r>
            <a:endParaRPr lang="en-US" sz="1500" dirty="0"/>
          </a:p>
          <a:p>
            <a:pPr marL="342900" indent="-342900">
              <a:spcAft>
                <a:spcPts val="800"/>
              </a:spcAft>
              <a:buSzPct val="100000"/>
              <a:buChar char="•"/>
            </a:pPr>
            <a:r>
              <a:rPr lang="en-US" sz="1500" dirty="0">
                <a:solidFill>
                  <a:schemeClr val="bg1"/>
                </a:solidFill>
              </a:rPr>
              <a:t>아시아 과학소통의 현황을 정리</a:t>
            </a:r>
            <a:endParaRPr lang="en-US" sz="1500" dirty="0"/>
          </a:p>
          <a:p>
            <a:pPr marL="342900" indent="-342900">
              <a:spcAft>
                <a:spcPts val="800"/>
              </a:spcAft>
              <a:buSzPct val="100000"/>
              <a:buChar char="•"/>
            </a:pPr>
            <a:r>
              <a:rPr lang="en-US" sz="1500" dirty="0">
                <a:solidFill>
                  <a:schemeClr val="bg1"/>
                </a:solidFill>
              </a:rPr>
              <a:t>나아갈 방향을 함께 토론</a:t>
            </a:r>
            <a:endParaRPr lang="en-US" sz="1500" dirty="0"/>
          </a:p>
        </p:txBody>
      </p:sp>
      <p:sp>
        <p:nvSpPr>
          <p:cNvPr id="9" name="일차 카드 2"/>
          <p:cNvSpPr/>
          <p:nvPr/>
        </p:nvSpPr>
        <p:spPr>
          <a:xfrm>
            <a:off x="6202375" y="1463040"/>
            <a:ext cx="5440680" cy="3931920"/>
          </a:xfrm>
          <a:prstGeom prst="roundRect">
            <a:avLst>
              <a:gd name="adj" fmla="val 2791"/>
            </a:avLst>
          </a:prstGeom>
          <a:solidFill>
            <a:schemeClr val="accent1"/>
          </a:solidFill>
          <a:ln/>
        </p:spPr>
      </p:sp>
      <p:sp>
        <p:nvSpPr>
          <p:cNvPr id="10" name="날짜 18"/>
          <p:cNvSpPr txBox="1"/>
          <p:nvPr/>
        </p:nvSpPr>
        <p:spPr>
          <a:xfrm>
            <a:off x="6568135" y="1645920"/>
            <a:ext cx="1371600" cy="914400"/>
          </a:xfrm>
          <a:prstGeom prst="rect">
            <a:avLst/>
          </a:prstGeom>
          <a:noFill/>
          <a:ln/>
        </p:spPr>
        <p:txBody>
          <a:bodyPr wrap="square" lIns="0" tIns="0" rIns="0" bIns="0" rtlCol="0" anchor="t"/>
          <a:lstStyle/>
          <a:p>
            <a:pPr marL="0" indent="0">
              <a:buNone/>
            </a:pPr>
            <a:r>
              <a:rPr lang="en-US" sz="6000" b="1" dirty="0">
                <a:solidFill>
                  <a:schemeClr val="bg1"/>
                </a:solidFill>
              </a:rPr>
              <a:t>18</a:t>
            </a:r>
            <a:endParaRPr lang="en-US" sz="6000" dirty="0"/>
          </a:p>
        </p:txBody>
      </p:sp>
      <p:sp>
        <p:nvSpPr>
          <p:cNvPr id="11" name="요일"/>
          <p:cNvSpPr txBox="1"/>
          <p:nvPr/>
        </p:nvSpPr>
        <p:spPr>
          <a:xfrm>
            <a:off x="6568135" y="2606040"/>
            <a:ext cx="1371600" cy="320040"/>
          </a:xfrm>
          <a:prstGeom prst="rect">
            <a:avLst/>
          </a:prstGeom>
          <a:noFill/>
          <a:ln/>
        </p:spPr>
        <p:txBody>
          <a:bodyPr wrap="square" lIns="0" tIns="0" rIns="0" bIns="0" rtlCol="0" anchor="t"/>
          <a:lstStyle/>
          <a:p>
            <a:pPr marL="0" indent="0">
              <a:buNone/>
            </a:pPr>
            <a:r>
              <a:rPr lang="en-US" sz="1600" dirty="0">
                <a:solidFill>
                  <a:schemeClr val="bg1"/>
                </a:solidFill>
              </a:rPr>
              <a:t>수요일</a:t>
            </a:r>
            <a:endParaRPr lang="en-US" sz="1600" dirty="0"/>
          </a:p>
        </p:txBody>
      </p:sp>
      <p:sp>
        <p:nvSpPr>
          <p:cNvPr id="12" name="일정 제목 18"/>
          <p:cNvSpPr txBox="1"/>
          <p:nvPr/>
        </p:nvSpPr>
        <p:spPr>
          <a:xfrm>
            <a:off x="8031175" y="1828800"/>
            <a:ext cx="3383280" cy="914400"/>
          </a:xfrm>
          <a:prstGeom prst="rect">
            <a:avLst/>
          </a:prstGeom>
          <a:noFill/>
          <a:ln/>
        </p:spPr>
        <p:txBody>
          <a:bodyPr wrap="square" lIns="0" tIns="0" rIns="0" bIns="0" rtlCol="0" anchor="ctr"/>
          <a:lstStyle/>
          <a:p>
            <a:pPr marL="0" indent="0">
              <a:buNone/>
            </a:pPr>
            <a:r>
              <a:rPr lang="en-US" sz="2200" b="1" dirty="0">
                <a:solidFill>
                  <a:schemeClr val="bg1"/>
                </a:solidFill>
              </a:rPr>
              <a:t>창립기념 심포지엄 · 총회</a:t>
            </a:r>
            <a:endParaRPr lang="en-US" sz="2200" dirty="0"/>
          </a:p>
        </p:txBody>
      </p:sp>
      <p:sp>
        <p:nvSpPr>
          <p:cNvPr id="13" name="일정 목록 18"/>
          <p:cNvSpPr txBox="1"/>
          <p:nvPr/>
        </p:nvSpPr>
        <p:spPr>
          <a:xfrm>
            <a:off x="6568135" y="3200400"/>
            <a:ext cx="470916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학회를 구성하는 모든 구성원이 참여</a:t>
            </a:r>
            <a:endParaRPr lang="en-US" sz="1500" dirty="0"/>
          </a:p>
          <a:p>
            <a:pPr marL="342900" indent="-342900">
              <a:spcAft>
                <a:spcPts val="800"/>
              </a:spcAft>
              <a:buSzPct val="100000"/>
              <a:buChar char="•"/>
            </a:pPr>
            <a:r>
              <a:rPr lang="en-US" sz="1500" dirty="0">
                <a:solidFill>
                  <a:schemeClr val="bg1"/>
                </a:solidFill>
              </a:rPr>
              <a:t>각자의 생각을 짧게 이야기하는 심포지엄 형식</a:t>
            </a:r>
            <a:endParaRPr lang="en-US" sz="1500" dirty="0"/>
          </a:p>
          <a:p>
            <a:pPr marL="342900" indent="-342900">
              <a:spcAft>
                <a:spcPts val="800"/>
              </a:spcAft>
              <a:buSzPct val="100000"/>
              <a:buChar char="•"/>
            </a:pPr>
            <a:r>
              <a:rPr lang="en-US" sz="1500" dirty="0">
                <a:solidFill>
                  <a:schemeClr val="bg1"/>
                </a:solidFill>
              </a:rPr>
              <a:t>총회 개최</a:t>
            </a:r>
            <a:endParaRPr lang="en-US" sz="1500" dirty="0"/>
          </a:p>
        </p:txBody>
      </p:sp>
      <p:sp>
        <p:nvSpPr>
          <p:cNvPr id="14" name="의미 띠"/>
          <p:cNvSpPr/>
          <p:nvPr/>
        </p:nvSpPr>
        <p:spPr>
          <a:xfrm>
            <a:off x="548640" y="5577840"/>
            <a:ext cx="11094415" cy="685800"/>
          </a:xfrm>
          <a:prstGeom prst="roundRect">
            <a:avLst>
              <a:gd name="adj" fmla="val 16000"/>
            </a:avLst>
          </a:prstGeom>
          <a:solidFill>
            <a:schemeClr val="bg2"/>
          </a:solidFill>
          <a:ln/>
        </p:spPr>
      </p:sp>
      <p:sp>
        <p:nvSpPr>
          <p:cNvPr id="15" name="의미 문구"/>
          <p:cNvSpPr txBox="1"/>
          <p:nvPr/>
        </p:nvSpPr>
        <p:spPr>
          <a:xfrm>
            <a:off x="914400" y="5577840"/>
            <a:ext cx="10362895" cy="685800"/>
          </a:xfrm>
          <a:prstGeom prst="rect">
            <a:avLst/>
          </a:prstGeom>
          <a:noFill/>
          <a:ln/>
        </p:spPr>
        <p:txBody>
          <a:bodyPr wrap="square" lIns="0" tIns="0" rIns="0" bIns="0" rtlCol="0" anchor="ctr"/>
          <a:lstStyle/>
          <a:p>
            <a:pPr marL="0" indent="0">
              <a:buNone/>
            </a:pPr>
            <a:r>
              <a:rPr lang="en-US" sz="1600" b="1" dirty="0">
                <a:solidFill>
                  <a:schemeClr val="tx1"/>
                </a:solidFill>
              </a:rPr>
              <a:t>한국의 과학문화 역량을 국제 사회에 알리고, 아시아 과학문화 중심의 토대를 마련합니다</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키커"/>
          <p:cNvSpPr txBox="1"/>
          <p:nvPr/>
        </p:nvSpPr>
        <p:spPr>
          <a:xfrm>
            <a:off x="548640" y="292608"/>
            <a:ext cx="7315200" cy="274320"/>
          </a:xfrm>
          <a:prstGeom prst="rect">
            <a:avLst/>
          </a:prstGeom>
          <a:noFill/>
          <a:ln/>
        </p:spPr>
        <p:txBody>
          <a:bodyPr wrap="square" lIns="0" tIns="0" rIns="0" bIns="0" rtlCol="0" anchor="t"/>
          <a:lstStyle/>
          <a:p>
            <a:pPr marL="0" indent="0">
              <a:buNone/>
            </a:pPr>
            <a:r>
              <a:rPr lang="en-US" sz="1200" b="1" kern="0" spc="200" dirty="0">
                <a:solidFill>
                  <a:schemeClr val="accent1"/>
                </a:solidFill>
              </a:rPr>
              <a:t>ROADMAP</a:t>
            </a:r>
            <a:endParaRPr lang="en-US" sz="1200" dirty="0"/>
          </a:p>
        </p:txBody>
      </p:sp>
      <p:sp>
        <p:nvSpPr>
          <p:cNvPr id="3" name="Text 0"/>
          <p:cNvSpPr>
            <a:spLocks noGrp="1"/>
          </p:cNvSpPr>
          <p:nvPr>
            <p:ph type="title" idx="100" hasCustomPrompt="1"/>
          </p:nvPr>
        </p:nvSpPr>
        <p:spPr>
          <a:xfrm>
            <a:off x="548640" y="566928"/>
            <a:ext cx="11094415" cy="731520"/>
          </a:xfrm>
          <a:prstGeom prst="rect">
            <a:avLst/>
          </a:prstGeom>
          <a:noFill/>
          <a:ln/>
        </p:spPr>
        <p:txBody>
          <a:bodyPr wrap="square" lIns="0" tIns="0" rIns="0" bIns="0" rtlCol="0" anchor="ctr"/>
          <a:lstStyle/>
          <a:p>
            <a:pPr marL="0" indent="0" algn="l">
              <a:buNone/>
            </a:pPr>
            <a:r>
              <a:rPr lang="en-US" sz="3200" b="1" dirty="0">
                <a:solidFill>
                  <a:schemeClr val="tx1"/>
                </a:solidFill>
              </a:rPr>
              <a:t>2031 세계대회까지의 로드맵</a:t>
            </a:r>
            <a:endParaRPr lang="en-US" sz="3200" dirty="0"/>
          </a:p>
        </p:txBody>
      </p:sp>
      <p:sp>
        <p:nvSpPr>
          <p:cNvPr id="4" name="타임라인 선"/>
          <p:cNvSpPr/>
          <p:nvPr/>
        </p:nvSpPr>
        <p:spPr>
          <a:xfrm>
            <a:off x="1097280" y="3813048"/>
            <a:ext cx="9966960" cy="54864"/>
          </a:xfrm>
          <a:prstGeom prst="rect">
            <a:avLst/>
          </a:prstGeom>
          <a:solidFill>
            <a:schemeClr val="accent6"/>
          </a:solidFill>
          <a:ln/>
        </p:spPr>
      </p:sp>
      <p:sp>
        <p:nvSpPr>
          <p:cNvPr id="5" name="노드 2008"/>
          <p:cNvSpPr/>
          <p:nvPr/>
        </p:nvSpPr>
        <p:spPr>
          <a:xfrm>
            <a:off x="1773936" y="3694176"/>
            <a:ext cx="292608" cy="292608"/>
          </a:xfrm>
          <a:prstGeom prst="ellipse">
            <a:avLst/>
          </a:prstGeom>
          <a:solidFill>
            <a:schemeClr val="tx1"/>
          </a:solidFill>
          <a:ln w="25400">
            <a:solidFill>
              <a:srgbClr val="FFFFFF"/>
            </a:solidFill>
            <a:prstDash val="solid"/>
          </a:ln>
        </p:spPr>
      </p:sp>
      <p:sp>
        <p:nvSpPr>
          <p:cNvPr id="6" name="연결선 2008"/>
          <p:cNvSpPr/>
          <p:nvPr/>
        </p:nvSpPr>
        <p:spPr>
          <a:xfrm>
            <a:off x="1911096" y="3246120"/>
            <a:ext cx="18288" cy="365760"/>
          </a:xfrm>
          <a:prstGeom prst="rect">
            <a:avLst/>
          </a:prstGeom>
          <a:solidFill>
            <a:schemeClr val="accent6"/>
          </a:solidFill>
          <a:ln/>
        </p:spPr>
      </p:sp>
      <p:sp>
        <p:nvSpPr>
          <p:cNvPr id="7" name="이벤트 2008"/>
          <p:cNvSpPr txBox="1"/>
          <p:nvPr/>
        </p:nvSpPr>
        <p:spPr>
          <a:xfrm>
            <a:off x="499811" y="1508760"/>
            <a:ext cx="2840858" cy="1691640"/>
          </a:xfrm>
          <a:prstGeom prst="rect">
            <a:avLst/>
          </a:prstGeom>
          <a:noFill/>
          <a:ln/>
        </p:spPr>
        <p:txBody>
          <a:bodyPr wrap="square" lIns="0" tIns="0" rIns="0" bIns="0" rtlCol="0" anchor="b"/>
          <a:lstStyle/>
          <a:p>
            <a:pPr marL="0" indent="0" algn="ctr">
              <a:buNone/>
            </a:pPr>
            <a:r>
              <a:rPr lang="en-US" sz="2000" b="1" dirty="0">
                <a:solidFill>
                  <a:schemeClr val="tx1"/>
                </a:solidFill>
              </a:rPr>
              <a:t>2010</a:t>
            </a:r>
            <a:endParaRPr lang="en-US" sz="2000" dirty="0"/>
          </a:p>
          <a:p>
            <a:pPr marL="0" indent="0" algn="ctr">
              <a:buNone/>
            </a:pPr>
            <a:r>
              <a:rPr lang="en-US" sz="1400" dirty="0" err="1">
                <a:solidFill>
                  <a:schemeClr val="tx2"/>
                </a:solidFill>
              </a:rPr>
              <a:t>한국과학문화교육단체연합</a:t>
            </a:r>
            <a:r>
              <a:rPr lang="en-US" sz="1400" dirty="0">
                <a:solidFill>
                  <a:schemeClr val="tx2"/>
                </a:solidFill>
              </a:rPr>
              <a:t>(</a:t>
            </a:r>
            <a:r>
              <a:rPr lang="ko-KR" altLang="en-US" sz="1400" dirty="0" err="1">
                <a:solidFill>
                  <a:schemeClr val="tx2"/>
                </a:solidFill>
              </a:rPr>
              <a:t>과문연</a:t>
            </a:r>
            <a:r>
              <a:rPr lang="en-US" altLang="ko-KR" sz="1400" dirty="0">
                <a:solidFill>
                  <a:schemeClr val="tx2"/>
                </a:solidFill>
              </a:rPr>
              <a:t>)</a:t>
            </a:r>
            <a:r>
              <a:rPr lang="en-US" sz="1400" dirty="0">
                <a:solidFill>
                  <a:schemeClr val="tx2"/>
                </a:solidFill>
              </a:rPr>
              <a:t> </a:t>
            </a:r>
            <a:r>
              <a:rPr lang="en-US" sz="1400" dirty="0" err="1">
                <a:solidFill>
                  <a:schemeClr val="tx2"/>
                </a:solidFill>
              </a:rPr>
              <a:t>창립</a:t>
            </a:r>
            <a:r>
              <a:rPr lang="en-US" sz="1400" dirty="0">
                <a:solidFill>
                  <a:schemeClr val="tx2"/>
                </a:solidFill>
              </a:rPr>
              <a:t>, </a:t>
            </a:r>
            <a:r>
              <a:rPr lang="ko-KR" altLang="en-US" sz="1400" dirty="0">
                <a:solidFill>
                  <a:schemeClr val="tx2"/>
                </a:solidFill>
              </a:rPr>
              <a:t>사단법인화</a:t>
            </a:r>
            <a:r>
              <a:rPr lang="en-US" sz="1400" dirty="0">
                <a:solidFill>
                  <a:schemeClr val="tx2"/>
                </a:solidFill>
              </a:rPr>
              <a:t>(50여 </a:t>
            </a:r>
            <a:r>
              <a:rPr lang="en-US" sz="1400" dirty="0" err="1">
                <a:solidFill>
                  <a:schemeClr val="tx2"/>
                </a:solidFill>
              </a:rPr>
              <a:t>단체</a:t>
            </a:r>
            <a:r>
              <a:rPr lang="en-US" sz="1400" dirty="0">
                <a:solidFill>
                  <a:schemeClr val="tx2"/>
                </a:solidFill>
              </a:rPr>
              <a:t>)</a:t>
            </a:r>
            <a:endParaRPr lang="en-US" sz="2000" dirty="0"/>
          </a:p>
        </p:txBody>
      </p:sp>
      <p:sp>
        <p:nvSpPr>
          <p:cNvPr id="8" name="노드 2025.12"/>
          <p:cNvSpPr/>
          <p:nvPr/>
        </p:nvSpPr>
        <p:spPr>
          <a:xfrm>
            <a:off x="3160806" y="3694176"/>
            <a:ext cx="292608" cy="292608"/>
          </a:xfrm>
          <a:prstGeom prst="ellipse">
            <a:avLst/>
          </a:prstGeom>
          <a:solidFill>
            <a:schemeClr val="tx1"/>
          </a:solidFill>
          <a:ln w="25400">
            <a:solidFill>
              <a:srgbClr val="FFFFFF"/>
            </a:solidFill>
            <a:prstDash val="solid"/>
          </a:ln>
        </p:spPr>
      </p:sp>
      <p:sp>
        <p:nvSpPr>
          <p:cNvPr id="9" name="연결선 2025.12"/>
          <p:cNvSpPr/>
          <p:nvPr/>
        </p:nvSpPr>
        <p:spPr>
          <a:xfrm>
            <a:off x="3297966" y="4069080"/>
            <a:ext cx="18288" cy="365760"/>
          </a:xfrm>
          <a:prstGeom prst="rect">
            <a:avLst/>
          </a:prstGeom>
          <a:solidFill>
            <a:schemeClr val="accent6"/>
          </a:solidFill>
          <a:ln/>
        </p:spPr>
      </p:sp>
      <p:sp>
        <p:nvSpPr>
          <p:cNvPr id="10" name="이벤트 2025.12"/>
          <p:cNvSpPr txBox="1"/>
          <p:nvPr/>
        </p:nvSpPr>
        <p:spPr>
          <a:xfrm>
            <a:off x="1953798" y="4526280"/>
            <a:ext cx="2706624" cy="1691640"/>
          </a:xfrm>
          <a:prstGeom prst="rect">
            <a:avLst/>
          </a:prstGeom>
          <a:noFill/>
          <a:ln/>
        </p:spPr>
        <p:txBody>
          <a:bodyPr wrap="square" lIns="0" tIns="0" rIns="0" bIns="0" rtlCol="0" anchor="t"/>
          <a:lstStyle/>
          <a:p>
            <a:pPr marL="0" indent="0" algn="ctr">
              <a:buNone/>
            </a:pPr>
            <a:r>
              <a:rPr lang="en-US" sz="2000" b="1" dirty="0">
                <a:solidFill>
                  <a:schemeClr val="tx1"/>
                </a:solidFill>
              </a:rPr>
              <a:t>2025.12.</a:t>
            </a:r>
            <a:endParaRPr lang="en-US" sz="2000" dirty="0"/>
          </a:p>
          <a:p>
            <a:pPr marL="0" indent="0" algn="ctr">
              <a:buNone/>
            </a:pPr>
            <a:r>
              <a:rPr lang="en-US" sz="1400" dirty="0">
                <a:solidFill>
                  <a:schemeClr val="tx2"/>
                </a:solidFill>
              </a:rPr>
              <a:t>과학소통포럼, PCST Network Korea 출범 논의</a:t>
            </a:r>
            <a:endParaRPr lang="en-US" sz="2000" dirty="0"/>
          </a:p>
        </p:txBody>
      </p:sp>
      <p:sp>
        <p:nvSpPr>
          <p:cNvPr id="11" name="노드 2026.5"/>
          <p:cNvSpPr/>
          <p:nvPr/>
        </p:nvSpPr>
        <p:spPr>
          <a:xfrm>
            <a:off x="4547677" y="3694176"/>
            <a:ext cx="292608" cy="292608"/>
          </a:xfrm>
          <a:prstGeom prst="ellipse">
            <a:avLst/>
          </a:prstGeom>
          <a:solidFill>
            <a:schemeClr val="tx1"/>
          </a:solidFill>
          <a:ln w="25400">
            <a:solidFill>
              <a:srgbClr val="FFFFFF"/>
            </a:solidFill>
            <a:prstDash val="solid"/>
          </a:ln>
        </p:spPr>
      </p:sp>
      <p:sp>
        <p:nvSpPr>
          <p:cNvPr id="12" name="연결선 2026.5"/>
          <p:cNvSpPr/>
          <p:nvPr/>
        </p:nvSpPr>
        <p:spPr>
          <a:xfrm>
            <a:off x="4684837" y="3246120"/>
            <a:ext cx="18288" cy="365760"/>
          </a:xfrm>
          <a:prstGeom prst="rect">
            <a:avLst/>
          </a:prstGeom>
          <a:solidFill>
            <a:schemeClr val="accent6"/>
          </a:solidFill>
          <a:ln/>
        </p:spPr>
      </p:sp>
      <p:sp>
        <p:nvSpPr>
          <p:cNvPr id="13" name="이벤트 2026.5"/>
          <p:cNvSpPr txBox="1"/>
          <p:nvPr/>
        </p:nvSpPr>
        <p:spPr>
          <a:xfrm>
            <a:off x="3340669" y="1508760"/>
            <a:ext cx="2706624" cy="1691640"/>
          </a:xfrm>
          <a:prstGeom prst="rect">
            <a:avLst/>
          </a:prstGeom>
          <a:noFill/>
          <a:ln/>
        </p:spPr>
        <p:txBody>
          <a:bodyPr wrap="square" lIns="0" tIns="0" rIns="0" bIns="0" rtlCol="0" anchor="b"/>
          <a:lstStyle/>
          <a:p>
            <a:pPr marL="0" indent="0" algn="ctr">
              <a:buNone/>
            </a:pPr>
            <a:r>
              <a:rPr lang="en-US" sz="2000" b="1" dirty="0">
                <a:solidFill>
                  <a:schemeClr val="tx1"/>
                </a:solidFill>
              </a:rPr>
              <a:t>2026.5.</a:t>
            </a:r>
            <a:endParaRPr lang="en-US" sz="2000" dirty="0"/>
          </a:p>
          <a:p>
            <a:pPr marL="0" indent="0" algn="ctr">
              <a:buNone/>
            </a:pPr>
            <a:r>
              <a:rPr lang="ko-KR" altLang="en-US" sz="1400" dirty="0" err="1">
                <a:solidFill>
                  <a:schemeClr val="tx2"/>
                </a:solidFill>
              </a:rPr>
              <a:t>과문연</a:t>
            </a:r>
            <a:r>
              <a:rPr lang="ko-KR" altLang="en-US" sz="1400" dirty="0">
                <a:solidFill>
                  <a:schemeClr val="tx2"/>
                </a:solidFill>
              </a:rPr>
              <a:t> 임시총회 </a:t>
            </a:r>
            <a:r>
              <a:rPr lang="en-US" altLang="ko-KR" sz="1400" dirty="0">
                <a:solidFill>
                  <a:schemeClr val="tx2"/>
                </a:solidFill>
              </a:rPr>
              <a:t>/ KCST </a:t>
            </a:r>
            <a:r>
              <a:rPr lang="en-US" sz="1400" dirty="0" err="1">
                <a:solidFill>
                  <a:schemeClr val="tx2"/>
                </a:solidFill>
              </a:rPr>
              <a:t>창립총회</a:t>
            </a:r>
            <a:r>
              <a:rPr lang="en-US" sz="1400" dirty="0">
                <a:solidFill>
                  <a:schemeClr val="tx2"/>
                </a:solidFill>
              </a:rPr>
              <a:t> 초대 회장 조숙경 교수 추대</a:t>
            </a:r>
            <a:endParaRPr lang="en-US" sz="2000" dirty="0"/>
          </a:p>
        </p:txBody>
      </p:sp>
      <p:sp>
        <p:nvSpPr>
          <p:cNvPr id="14" name="노드 2026.8"/>
          <p:cNvSpPr/>
          <p:nvPr/>
        </p:nvSpPr>
        <p:spPr>
          <a:xfrm>
            <a:off x="5934547" y="3694176"/>
            <a:ext cx="292608" cy="292608"/>
          </a:xfrm>
          <a:prstGeom prst="ellipse">
            <a:avLst/>
          </a:prstGeom>
          <a:solidFill>
            <a:schemeClr val="tx1"/>
          </a:solidFill>
          <a:ln w="25400">
            <a:solidFill>
              <a:srgbClr val="FFFFFF"/>
            </a:solidFill>
            <a:prstDash val="solid"/>
          </a:ln>
        </p:spPr>
      </p:sp>
      <p:sp>
        <p:nvSpPr>
          <p:cNvPr id="15" name="연결선 2026.8"/>
          <p:cNvSpPr/>
          <p:nvPr/>
        </p:nvSpPr>
        <p:spPr>
          <a:xfrm>
            <a:off x="6071707" y="4069080"/>
            <a:ext cx="18288" cy="365760"/>
          </a:xfrm>
          <a:prstGeom prst="rect">
            <a:avLst/>
          </a:prstGeom>
          <a:solidFill>
            <a:schemeClr val="accent6"/>
          </a:solidFill>
          <a:ln/>
        </p:spPr>
      </p:sp>
      <p:sp>
        <p:nvSpPr>
          <p:cNvPr id="16" name="이벤트 2026.8"/>
          <p:cNvSpPr txBox="1"/>
          <p:nvPr/>
        </p:nvSpPr>
        <p:spPr>
          <a:xfrm>
            <a:off x="4727539" y="4526280"/>
            <a:ext cx="2706624" cy="1691640"/>
          </a:xfrm>
          <a:prstGeom prst="rect">
            <a:avLst/>
          </a:prstGeom>
          <a:noFill/>
          <a:ln/>
        </p:spPr>
        <p:txBody>
          <a:bodyPr wrap="square" lIns="0" tIns="0" rIns="0" bIns="0" rtlCol="0" anchor="t"/>
          <a:lstStyle/>
          <a:p>
            <a:pPr marL="0" indent="0" algn="ctr">
              <a:buNone/>
            </a:pPr>
            <a:r>
              <a:rPr lang="en-US" sz="2000" b="1" dirty="0">
                <a:solidFill>
                  <a:schemeClr val="tx1"/>
                </a:solidFill>
              </a:rPr>
              <a:t>2026.8.</a:t>
            </a:r>
            <a:endParaRPr lang="en-US" sz="2000" dirty="0"/>
          </a:p>
          <a:p>
            <a:pPr marL="0" indent="0" algn="ctr">
              <a:buNone/>
            </a:pPr>
            <a:r>
              <a:rPr lang="en-US" sz="1400" dirty="0">
                <a:solidFill>
                  <a:schemeClr val="tx2"/>
                </a:solidFill>
              </a:rPr>
              <a:t>제1회 라운드톡 ‘과학소통의 현주소를 진단한다’</a:t>
            </a:r>
            <a:endParaRPr lang="en-US" sz="2000" dirty="0"/>
          </a:p>
        </p:txBody>
      </p:sp>
      <p:sp>
        <p:nvSpPr>
          <p:cNvPr id="17" name="노드 2026.11"/>
          <p:cNvSpPr/>
          <p:nvPr/>
        </p:nvSpPr>
        <p:spPr>
          <a:xfrm>
            <a:off x="7261982" y="3634740"/>
            <a:ext cx="411480" cy="411480"/>
          </a:xfrm>
          <a:prstGeom prst="ellipse">
            <a:avLst/>
          </a:prstGeom>
          <a:solidFill>
            <a:schemeClr val="accent2"/>
          </a:solidFill>
          <a:ln w="25400">
            <a:solidFill>
              <a:srgbClr val="FFFFFF"/>
            </a:solidFill>
            <a:prstDash val="solid"/>
          </a:ln>
        </p:spPr>
      </p:sp>
      <p:sp>
        <p:nvSpPr>
          <p:cNvPr id="18" name="연결선 2026.11"/>
          <p:cNvSpPr/>
          <p:nvPr/>
        </p:nvSpPr>
        <p:spPr>
          <a:xfrm>
            <a:off x="7458578" y="3246120"/>
            <a:ext cx="18288" cy="365760"/>
          </a:xfrm>
          <a:prstGeom prst="rect">
            <a:avLst/>
          </a:prstGeom>
          <a:solidFill>
            <a:schemeClr val="accent6"/>
          </a:solidFill>
          <a:ln/>
        </p:spPr>
      </p:sp>
      <p:sp>
        <p:nvSpPr>
          <p:cNvPr id="19" name="이벤트 2026.11"/>
          <p:cNvSpPr txBox="1"/>
          <p:nvPr/>
        </p:nvSpPr>
        <p:spPr>
          <a:xfrm>
            <a:off x="6114410" y="1508760"/>
            <a:ext cx="2706624" cy="1691640"/>
          </a:xfrm>
          <a:prstGeom prst="rect">
            <a:avLst/>
          </a:prstGeom>
          <a:noFill/>
          <a:ln/>
        </p:spPr>
        <p:txBody>
          <a:bodyPr wrap="square" lIns="0" tIns="0" rIns="0" bIns="0" rtlCol="0" anchor="b"/>
          <a:lstStyle/>
          <a:p>
            <a:pPr marL="0" indent="0" algn="ctr">
              <a:buNone/>
            </a:pPr>
            <a:r>
              <a:rPr lang="en-US" sz="2000" b="1" dirty="0">
                <a:solidFill>
                  <a:schemeClr val="accent2"/>
                </a:solidFill>
              </a:rPr>
              <a:t>2026.11.</a:t>
            </a:r>
            <a:endParaRPr lang="en-US" sz="2000" dirty="0"/>
          </a:p>
          <a:p>
            <a:pPr marL="0" indent="0" algn="ctr">
              <a:buNone/>
            </a:pPr>
            <a:r>
              <a:rPr lang="en-US" sz="1400" dirty="0">
                <a:solidFill>
                  <a:schemeClr val="tx2"/>
                </a:solidFill>
              </a:rPr>
              <a:t>창립 심포지엄·총회 (17–18일)</a:t>
            </a:r>
            <a:endParaRPr lang="en-US" sz="2000" dirty="0"/>
          </a:p>
        </p:txBody>
      </p:sp>
      <p:sp>
        <p:nvSpPr>
          <p:cNvPr id="20" name="노드 2027"/>
          <p:cNvSpPr/>
          <p:nvPr/>
        </p:nvSpPr>
        <p:spPr>
          <a:xfrm>
            <a:off x="8708288" y="3694176"/>
            <a:ext cx="292608" cy="292608"/>
          </a:xfrm>
          <a:prstGeom prst="ellipse">
            <a:avLst/>
          </a:prstGeom>
          <a:solidFill>
            <a:schemeClr val="accent1"/>
          </a:solidFill>
          <a:ln w="25400">
            <a:solidFill>
              <a:srgbClr val="FFFFFF"/>
            </a:solidFill>
            <a:prstDash val="solid"/>
          </a:ln>
        </p:spPr>
      </p:sp>
      <p:sp>
        <p:nvSpPr>
          <p:cNvPr id="21" name="연결선 2027"/>
          <p:cNvSpPr/>
          <p:nvPr/>
        </p:nvSpPr>
        <p:spPr>
          <a:xfrm>
            <a:off x="8845448" y="4069080"/>
            <a:ext cx="18288" cy="365760"/>
          </a:xfrm>
          <a:prstGeom prst="rect">
            <a:avLst/>
          </a:prstGeom>
          <a:solidFill>
            <a:schemeClr val="accent6"/>
          </a:solidFill>
          <a:ln/>
        </p:spPr>
      </p:sp>
      <p:sp>
        <p:nvSpPr>
          <p:cNvPr id="22" name="이벤트 2027"/>
          <p:cNvSpPr txBox="1"/>
          <p:nvPr/>
        </p:nvSpPr>
        <p:spPr>
          <a:xfrm>
            <a:off x="7501280" y="4526280"/>
            <a:ext cx="2706624" cy="1691640"/>
          </a:xfrm>
          <a:prstGeom prst="rect">
            <a:avLst/>
          </a:prstGeom>
          <a:noFill/>
          <a:ln/>
        </p:spPr>
        <p:txBody>
          <a:bodyPr wrap="square" lIns="0" tIns="0" rIns="0" bIns="0" rtlCol="0" anchor="t"/>
          <a:lstStyle/>
          <a:p>
            <a:pPr marL="0" indent="0" algn="ctr">
              <a:buNone/>
            </a:pPr>
            <a:r>
              <a:rPr lang="en-US" sz="2000" b="1" dirty="0">
                <a:solidFill>
                  <a:schemeClr val="accent1"/>
                </a:solidFill>
              </a:rPr>
              <a:t>2027</a:t>
            </a:r>
            <a:endParaRPr lang="en-US" sz="2000" dirty="0"/>
          </a:p>
          <a:p>
            <a:pPr marL="0" indent="0" algn="ctr">
              <a:buNone/>
            </a:pPr>
            <a:r>
              <a:rPr lang="en-US" sz="1400" dirty="0">
                <a:solidFill>
                  <a:schemeClr val="tx2"/>
                </a:solidFill>
              </a:rPr>
              <a:t>정기 학술대회·학술지 본격화, 세계대회 후보지 등록</a:t>
            </a:r>
            <a:endParaRPr lang="en-US" sz="2000" dirty="0"/>
          </a:p>
        </p:txBody>
      </p:sp>
      <p:sp>
        <p:nvSpPr>
          <p:cNvPr id="23" name="노드 2031"/>
          <p:cNvSpPr/>
          <p:nvPr/>
        </p:nvSpPr>
        <p:spPr>
          <a:xfrm>
            <a:off x="9990003" y="3589020"/>
            <a:ext cx="502920" cy="502920"/>
          </a:xfrm>
          <a:prstGeom prst="ellipse">
            <a:avLst/>
          </a:prstGeom>
          <a:solidFill>
            <a:schemeClr val="accent1"/>
          </a:solidFill>
          <a:ln w="25400">
            <a:solidFill>
              <a:srgbClr val="FFFFFF"/>
            </a:solidFill>
            <a:prstDash val="solid"/>
          </a:ln>
        </p:spPr>
      </p:sp>
      <p:sp>
        <p:nvSpPr>
          <p:cNvPr id="24" name="연결선 2031"/>
          <p:cNvSpPr/>
          <p:nvPr/>
        </p:nvSpPr>
        <p:spPr>
          <a:xfrm>
            <a:off x="10232319" y="3246120"/>
            <a:ext cx="18288" cy="365760"/>
          </a:xfrm>
          <a:prstGeom prst="rect">
            <a:avLst/>
          </a:prstGeom>
          <a:solidFill>
            <a:schemeClr val="accent6"/>
          </a:solidFill>
          <a:ln/>
        </p:spPr>
      </p:sp>
      <p:sp>
        <p:nvSpPr>
          <p:cNvPr id="25" name="이벤트 2031"/>
          <p:cNvSpPr txBox="1"/>
          <p:nvPr/>
        </p:nvSpPr>
        <p:spPr>
          <a:xfrm>
            <a:off x="8888151" y="1508760"/>
            <a:ext cx="2706624" cy="1691640"/>
          </a:xfrm>
          <a:prstGeom prst="rect">
            <a:avLst/>
          </a:prstGeom>
          <a:noFill/>
          <a:ln/>
        </p:spPr>
        <p:txBody>
          <a:bodyPr wrap="square" lIns="0" tIns="0" rIns="0" bIns="0" rtlCol="0" anchor="b"/>
          <a:lstStyle/>
          <a:p>
            <a:pPr marL="0" indent="0" algn="ctr">
              <a:buNone/>
            </a:pPr>
            <a:r>
              <a:rPr lang="en-US" sz="2000" b="1" dirty="0">
                <a:solidFill>
                  <a:schemeClr val="accent1"/>
                </a:solidFill>
              </a:rPr>
              <a:t>2031</a:t>
            </a:r>
            <a:endParaRPr lang="en-US" sz="2000" dirty="0"/>
          </a:p>
          <a:p>
            <a:pPr marL="0" indent="0" algn="ctr">
              <a:buNone/>
            </a:pPr>
            <a:r>
              <a:rPr lang="en-US" sz="1400" dirty="0">
                <a:solidFill>
                  <a:schemeClr val="tx2"/>
                </a:solidFill>
              </a:rPr>
              <a:t>PCST Network 세계대회 한국 유치</a:t>
            </a:r>
            <a:endParaRPr lang="en-US" sz="2000" dirty="0"/>
          </a:p>
        </p:txBody>
      </p:sp>
      <p:sp>
        <p:nvSpPr>
          <p:cNvPr id="26" name="조건 띠"/>
          <p:cNvSpPr/>
          <p:nvPr/>
        </p:nvSpPr>
        <p:spPr>
          <a:xfrm>
            <a:off x="548640" y="5760720"/>
            <a:ext cx="11094415" cy="530352"/>
          </a:xfrm>
          <a:prstGeom prst="roundRect">
            <a:avLst>
              <a:gd name="adj" fmla="val 20690"/>
            </a:avLst>
          </a:prstGeom>
          <a:solidFill>
            <a:schemeClr val="bg2"/>
          </a:solidFill>
          <a:ln/>
        </p:spPr>
      </p:sp>
      <p:sp>
        <p:nvSpPr>
          <p:cNvPr id="27" name="조건 문구"/>
          <p:cNvSpPr txBox="1"/>
          <p:nvPr/>
        </p:nvSpPr>
        <p:spPr>
          <a:xfrm>
            <a:off x="914400" y="5760720"/>
            <a:ext cx="10362895" cy="530352"/>
          </a:xfrm>
          <a:prstGeom prst="rect">
            <a:avLst/>
          </a:prstGeom>
          <a:noFill/>
          <a:ln/>
        </p:spPr>
        <p:txBody>
          <a:bodyPr wrap="square" lIns="0" tIns="0" rIns="0" bIns="0" rtlCol="0" anchor="ctr"/>
          <a:lstStyle/>
          <a:p>
            <a:pPr marL="0" indent="0">
              <a:buNone/>
            </a:pPr>
            <a:r>
              <a:rPr lang="en-US" sz="1400" b="1" dirty="0">
                <a:solidFill>
                  <a:schemeClr val="tx1"/>
                </a:solidFill>
              </a:rPr>
              <a:t>2031 유치를 위해서는 2027년에 후보지로 등록해야 하며, 2026년 안에 충분한 활동 실적을 보여야 합니다</a:t>
            </a:r>
            <a:endParaRPr lang="en-US" sz="1400" dirty="0"/>
          </a:p>
        </p:txBody>
      </p:sp>
      <p:sp>
        <p:nvSpPr>
          <p:cNvPr id="28"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14</a:t>
            </a:fld>
            <a:endParaRPr lang="en-US"/>
          </a:p>
        </p:txBody>
      </p:sp>
      <p:sp>
        <p:nvSpPr>
          <p:cNvPr id="29" name="노드 2008">
            <a:extLst>
              <a:ext uri="{FF2B5EF4-FFF2-40B4-BE49-F238E27FC236}">
                <a16:creationId xmlns:a16="http://schemas.microsoft.com/office/drawing/2014/main" id="{ADB10469-CDE4-39BC-322D-4878031350D0}"/>
              </a:ext>
            </a:extLst>
          </p:cNvPr>
          <p:cNvSpPr/>
          <p:nvPr/>
        </p:nvSpPr>
        <p:spPr>
          <a:xfrm>
            <a:off x="825261" y="3694176"/>
            <a:ext cx="292608" cy="292608"/>
          </a:xfrm>
          <a:prstGeom prst="ellipse">
            <a:avLst/>
          </a:prstGeom>
          <a:solidFill>
            <a:schemeClr val="tx1"/>
          </a:solidFill>
          <a:ln w="25400">
            <a:solidFill>
              <a:srgbClr val="FFFFFF"/>
            </a:solidFill>
            <a:prstDash val="solid"/>
          </a:ln>
        </p:spPr>
      </p:sp>
      <p:sp>
        <p:nvSpPr>
          <p:cNvPr id="30" name="노드 2008">
            <a:extLst>
              <a:ext uri="{FF2B5EF4-FFF2-40B4-BE49-F238E27FC236}">
                <a16:creationId xmlns:a16="http://schemas.microsoft.com/office/drawing/2014/main" id="{06236A8E-A082-7B43-F938-9ADE713C0C17}"/>
              </a:ext>
            </a:extLst>
          </p:cNvPr>
          <p:cNvSpPr/>
          <p:nvPr/>
        </p:nvSpPr>
        <p:spPr>
          <a:xfrm>
            <a:off x="804672" y="3694176"/>
            <a:ext cx="292608" cy="292608"/>
          </a:xfrm>
          <a:prstGeom prst="ellipse">
            <a:avLst/>
          </a:prstGeom>
          <a:solidFill>
            <a:schemeClr val="tx1"/>
          </a:solidFill>
          <a:ln w="25400">
            <a:solidFill>
              <a:srgbClr val="FFFFFF"/>
            </a:solidFill>
            <a:prstDash val="solid"/>
          </a:ln>
        </p:spPr>
      </p:sp>
      <p:sp>
        <p:nvSpPr>
          <p:cNvPr id="32" name="연결선 2025.12">
            <a:extLst>
              <a:ext uri="{FF2B5EF4-FFF2-40B4-BE49-F238E27FC236}">
                <a16:creationId xmlns:a16="http://schemas.microsoft.com/office/drawing/2014/main" id="{F9513A22-4B11-F863-94B9-9D3BBD51943D}"/>
              </a:ext>
            </a:extLst>
          </p:cNvPr>
          <p:cNvSpPr/>
          <p:nvPr/>
        </p:nvSpPr>
        <p:spPr>
          <a:xfrm>
            <a:off x="946650" y="4069080"/>
            <a:ext cx="18288" cy="365760"/>
          </a:xfrm>
          <a:prstGeom prst="rect">
            <a:avLst/>
          </a:prstGeom>
          <a:solidFill>
            <a:schemeClr val="accent6"/>
          </a:solidFill>
          <a:ln/>
        </p:spPr>
      </p:sp>
      <p:sp>
        <p:nvSpPr>
          <p:cNvPr id="33" name="이벤트 2025.12">
            <a:extLst>
              <a:ext uri="{FF2B5EF4-FFF2-40B4-BE49-F238E27FC236}">
                <a16:creationId xmlns:a16="http://schemas.microsoft.com/office/drawing/2014/main" id="{5369C198-0516-650C-4A4F-C8E34BE4D444}"/>
              </a:ext>
            </a:extLst>
          </p:cNvPr>
          <p:cNvSpPr txBox="1"/>
          <p:nvPr/>
        </p:nvSpPr>
        <p:spPr>
          <a:xfrm>
            <a:off x="-397518" y="4526280"/>
            <a:ext cx="2706624" cy="1691640"/>
          </a:xfrm>
          <a:prstGeom prst="rect">
            <a:avLst/>
          </a:prstGeom>
          <a:noFill/>
          <a:ln/>
        </p:spPr>
        <p:txBody>
          <a:bodyPr wrap="square" lIns="0" tIns="0" rIns="0" bIns="0" rtlCol="0" anchor="t"/>
          <a:lstStyle/>
          <a:p>
            <a:pPr marL="0" indent="0" algn="ctr">
              <a:buNone/>
            </a:pPr>
            <a:r>
              <a:rPr lang="en-US" sz="2000" b="1" dirty="0">
                <a:solidFill>
                  <a:schemeClr val="tx1"/>
                </a:solidFill>
              </a:rPr>
              <a:t>2000.04.</a:t>
            </a:r>
            <a:endParaRPr lang="en-US" sz="2000" dirty="0"/>
          </a:p>
          <a:p>
            <a:pPr marL="0" indent="0" algn="ctr">
              <a:buNone/>
            </a:pPr>
            <a:r>
              <a:rPr lang="ko-KR" altLang="en-US" sz="1400" dirty="0">
                <a:solidFill>
                  <a:schemeClr val="tx2"/>
                </a:solidFill>
              </a:rPr>
              <a:t>과학문화</a:t>
            </a:r>
            <a:r>
              <a:rPr lang="en-US" altLang="ko-KR" sz="1400" dirty="0">
                <a:solidFill>
                  <a:schemeClr val="tx2"/>
                </a:solidFill>
              </a:rPr>
              <a:t>NGO</a:t>
            </a:r>
            <a:r>
              <a:rPr lang="ko-KR" altLang="en-US" sz="1400" dirty="0">
                <a:solidFill>
                  <a:schemeClr val="tx2"/>
                </a:solidFill>
              </a:rPr>
              <a:t>협의회</a:t>
            </a:r>
            <a:endParaRPr lang="en-US" altLang="ko-KR" sz="1400" dirty="0">
              <a:solidFill>
                <a:schemeClr val="tx2"/>
              </a:solidFill>
            </a:endParaRPr>
          </a:p>
          <a:p>
            <a:pPr marL="0" indent="0" algn="ctr">
              <a:buNone/>
            </a:pPr>
            <a:r>
              <a:rPr lang="en-US" sz="1400" dirty="0">
                <a:solidFill>
                  <a:schemeClr val="tx2"/>
                </a:solidFill>
              </a:rPr>
              <a:t>(11</a:t>
            </a:r>
            <a:r>
              <a:rPr lang="ko-KR" altLang="en-US" sz="1400" dirty="0">
                <a:solidFill>
                  <a:schemeClr val="tx2"/>
                </a:solidFill>
              </a:rPr>
              <a:t>개 단체</a:t>
            </a:r>
            <a:r>
              <a:rPr lang="en-US" altLang="ko-KR" sz="1400" dirty="0">
                <a:solidFill>
                  <a:schemeClr val="tx2"/>
                </a:solidFill>
              </a:rPr>
              <a: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키커"/>
          <p:cNvSpPr txBox="1"/>
          <p:nvPr/>
        </p:nvSpPr>
        <p:spPr>
          <a:xfrm>
            <a:off x="548640" y="594360"/>
            <a:ext cx="4572000" cy="320040"/>
          </a:xfrm>
          <a:prstGeom prst="rect">
            <a:avLst/>
          </a:prstGeom>
          <a:noFill/>
          <a:ln/>
        </p:spPr>
        <p:txBody>
          <a:bodyPr wrap="square" lIns="0" tIns="0" rIns="0" bIns="0" rtlCol="0" anchor="t"/>
          <a:lstStyle/>
          <a:p>
            <a:pPr marL="0" indent="0">
              <a:buNone/>
            </a:pPr>
            <a:r>
              <a:rPr lang="en-US" sz="1400" b="1" kern="0" spc="300" dirty="0">
                <a:solidFill>
                  <a:schemeClr val="accent5"/>
                </a:solidFill>
              </a:rPr>
              <a:t>JOIN US</a:t>
            </a:r>
            <a:endParaRPr lang="en-US" sz="1400" dirty="0"/>
          </a:p>
        </p:txBody>
      </p:sp>
      <p:sp>
        <p:nvSpPr>
          <p:cNvPr id="3" name="Text 1"/>
          <p:cNvSpPr>
            <a:spLocks noGrp="1"/>
          </p:cNvSpPr>
          <p:nvPr>
            <p:ph type="title" idx="101" hasCustomPrompt="1"/>
          </p:nvPr>
        </p:nvSpPr>
        <p:spPr>
          <a:xfrm>
            <a:off x="548640" y="1051560"/>
            <a:ext cx="5760720" cy="2103120"/>
          </a:xfrm>
          <a:prstGeom prst="rect">
            <a:avLst/>
          </a:prstGeom>
          <a:noFill/>
          <a:ln/>
        </p:spPr>
        <p:txBody>
          <a:bodyPr wrap="square" lIns="0" tIns="0" rIns="0" bIns="0" rtlCol="0" anchor="t"/>
          <a:lstStyle/>
          <a:p>
            <a:pPr marL="0" indent="0" algn="l">
              <a:buNone/>
            </a:pPr>
            <a:r>
              <a:rPr lang="en-US" sz="4000" b="1" dirty="0">
                <a:solidFill>
                  <a:schemeClr val="bg1"/>
                </a:solidFill>
              </a:rPr>
              <a:t>함께 만드는</a:t>
            </a:r>
            <a:endParaRPr lang="en-US" sz="4000" dirty="0"/>
          </a:p>
          <a:p>
            <a:pPr marL="0" indent="0" algn="l">
              <a:buNone/>
            </a:pPr>
            <a:r>
              <a:rPr lang="en-US" sz="4000" b="1" dirty="0">
                <a:solidFill>
                  <a:schemeClr val="bg1"/>
                </a:solidFill>
              </a:rPr>
              <a:t>한국형 과학소통</a:t>
            </a:r>
            <a:endParaRPr lang="en-US" sz="4000" dirty="0"/>
          </a:p>
        </p:txBody>
      </p:sp>
      <p:sp>
        <p:nvSpPr>
          <p:cNvPr id="4" name="마무리 문구"/>
          <p:cNvSpPr txBox="1"/>
          <p:nvPr/>
        </p:nvSpPr>
        <p:spPr>
          <a:xfrm>
            <a:off x="548640" y="3520440"/>
            <a:ext cx="5669280" cy="1188720"/>
          </a:xfrm>
          <a:prstGeom prst="rect">
            <a:avLst/>
          </a:prstGeom>
          <a:noFill/>
          <a:ln/>
        </p:spPr>
        <p:txBody>
          <a:bodyPr wrap="square" lIns="0" tIns="0" rIns="0" bIns="0" rtlCol="0" anchor="t"/>
          <a:lstStyle/>
          <a:p>
            <a:pPr marL="0" indent="0">
              <a:buNone/>
            </a:pPr>
            <a:r>
              <a:rPr lang="en-US" sz="2000" i="1" dirty="0">
                <a:solidFill>
                  <a:schemeClr val="accent5"/>
                </a:solidFill>
              </a:rPr>
              <a:t>구슬은 이미 충분합니다.</a:t>
            </a:r>
            <a:endParaRPr lang="en-US" sz="2000" dirty="0"/>
          </a:p>
          <a:p>
            <a:pPr marL="0" indent="0">
              <a:buNone/>
            </a:pPr>
            <a:r>
              <a:rPr lang="en-US" sz="2000" i="1" dirty="0">
                <a:solidFill>
                  <a:schemeClr val="accent5"/>
                </a:solidFill>
              </a:rPr>
              <a:t>이제 필요한 것은 그 구슬을 꿰어내는 ‘연결’의 힘입니다.</a:t>
            </a:r>
            <a:endParaRPr lang="en-US" sz="2000" dirty="0"/>
          </a:p>
        </p:txBody>
      </p:sp>
      <p:sp>
        <p:nvSpPr>
          <p:cNvPr id="5" name="출처"/>
          <p:cNvSpPr txBox="1"/>
          <p:nvPr/>
        </p:nvSpPr>
        <p:spPr>
          <a:xfrm>
            <a:off x="548640" y="4846320"/>
            <a:ext cx="5486400" cy="274320"/>
          </a:xfrm>
          <a:prstGeom prst="rect">
            <a:avLst/>
          </a:prstGeom>
          <a:noFill/>
          <a:ln/>
        </p:spPr>
        <p:txBody>
          <a:bodyPr wrap="square" lIns="0" tIns="0" rIns="0" bIns="0" rtlCol="0" anchor="t"/>
          <a:lstStyle/>
          <a:p>
            <a:pPr marL="0" indent="0">
              <a:buNone/>
            </a:pPr>
            <a:r>
              <a:rPr lang="en-US" sz="1200" dirty="0">
                <a:solidFill>
                  <a:schemeClr val="accent6"/>
                </a:solidFill>
              </a:rPr>
              <a:t>― 2025 과학소통포럼</a:t>
            </a:r>
            <a:endParaRPr lang="en-US" sz="1200" dirty="0"/>
          </a:p>
        </p:txBody>
      </p:sp>
      <p:sp>
        <p:nvSpPr>
          <p:cNvPr id="6" name="회원 제목"/>
          <p:cNvSpPr txBox="1"/>
          <p:nvPr/>
        </p:nvSpPr>
        <p:spPr>
          <a:xfrm>
            <a:off x="6949440" y="594360"/>
            <a:ext cx="4663440" cy="365760"/>
          </a:xfrm>
          <a:prstGeom prst="rect">
            <a:avLst/>
          </a:prstGeom>
          <a:noFill/>
          <a:ln/>
        </p:spPr>
        <p:txBody>
          <a:bodyPr wrap="square" lIns="0" tIns="0" rIns="0" bIns="0" rtlCol="0" anchor="t"/>
          <a:lstStyle/>
          <a:p>
            <a:pPr marL="0" indent="0">
              <a:buNone/>
            </a:pPr>
            <a:r>
              <a:rPr lang="en-US" sz="1800" b="1" dirty="0">
                <a:solidFill>
                  <a:schemeClr val="bg1"/>
                </a:solidFill>
              </a:rPr>
              <a:t>KCST와 함께하는 방법</a:t>
            </a:r>
            <a:endParaRPr lang="en-US" sz="1800" dirty="0"/>
          </a:p>
        </p:txBody>
      </p:sp>
      <p:sp>
        <p:nvSpPr>
          <p:cNvPr id="7" name="회원 카드 1"/>
          <p:cNvSpPr/>
          <p:nvPr/>
        </p:nvSpPr>
        <p:spPr>
          <a:xfrm>
            <a:off x="6949440" y="1234440"/>
            <a:ext cx="4693615" cy="1188720"/>
          </a:xfrm>
          <a:prstGeom prst="roundRect">
            <a:avLst>
              <a:gd name="adj" fmla="val 9231"/>
            </a:avLst>
          </a:prstGeom>
          <a:solidFill>
            <a:schemeClr val="tx2"/>
          </a:solidFill>
          <a:ln/>
        </p:spPr>
      </p:sp>
      <p:sp>
        <p:nvSpPr>
          <p:cNvPr id="8" name="정회원 배경"/>
          <p:cNvSpPr/>
          <p:nvPr/>
        </p:nvSpPr>
        <p:spPr>
          <a:xfrm>
            <a:off x="7223760" y="1508760"/>
            <a:ext cx="640080" cy="640080"/>
          </a:xfrm>
          <a:prstGeom prst="ellipse">
            <a:avLst/>
          </a:prstGeom>
          <a:solidFill>
            <a:schemeClr val="accent1"/>
          </a:solidFill>
          <a:ln/>
        </p:spPr>
      </p:sp>
      <p:pic>
        <p:nvPicPr>
          <p:cNvPr id="9" name="정회원 아이콘" descr="FaUser"/>
          <p:cNvPicPr>
            <a:picLocks noChangeAspect="1"/>
          </p:cNvPicPr>
          <p:nvPr/>
        </p:nvPicPr>
        <p:blipFill>
          <a:blip r:embed="rId3"/>
          <a:stretch>
            <a:fillRect/>
          </a:stretch>
        </p:blipFill>
        <p:spPr>
          <a:xfrm>
            <a:off x="7390181" y="1675181"/>
            <a:ext cx="307238" cy="307238"/>
          </a:xfrm>
          <a:prstGeom prst="rect">
            <a:avLst/>
          </a:prstGeom>
        </p:spPr>
      </p:pic>
      <p:sp>
        <p:nvSpPr>
          <p:cNvPr id="10" name="회원 유형 1"/>
          <p:cNvSpPr txBox="1"/>
          <p:nvPr/>
        </p:nvSpPr>
        <p:spPr>
          <a:xfrm>
            <a:off x="8092440" y="1417320"/>
            <a:ext cx="3383280" cy="365760"/>
          </a:xfrm>
          <a:prstGeom prst="rect">
            <a:avLst/>
          </a:prstGeom>
          <a:noFill/>
          <a:ln/>
        </p:spPr>
        <p:txBody>
          <a:bodyPr wrap="square" lIns="0" tIns="0" rIns="0" bIns="0" rtlCol="0" anchor="t"/>
          <a:lstStyle/>
          <a:p>
            <a:pPr marL="0" indent="0">
              <a:buNone/>
            </a:pPr>
            <a:r>
              <a:rPr lang="en-US" sz="1800" b="1" dirty="0" err="1">
                <a:solidFill>
                  <a:schemeClr val="bg1"/>
                </a:solidFill>
              </a:rPr>
              <a:t>정회원</a:t>
            </a:r>
            <a:r>
              <a:rPr lang="en-US" sz="1800" b="1" dirty="0">
                <a:solidFill>
                  <a:schemeClr val="bg1"/>
                </a:solidFill>
              </a:rPr>
              <a:t>, </a:t>
            </a:r>
            <a:r>
              <a:rPr lang="ko-KR" altLang="en-US" sz="1800" b="1" dirty="0">
                <a:solidFill>
                  <a:schemeClr val="bg1"/>
                </a:solidFill>
              </a:rPr>
              <a:t>임원회원</a:t>
            </a:r>
            <a:endParaRPr lang="en-US" sz="1800" dirty="0"/>
          </a:p>
        </p:txBody>
      </p:sp>
      <p:sp>
        <p:nvSpPr>
          <p:cNvPr id="11" name="회원 설명 1"/>
          <p:cNvSpPr txBox="1"/>
          <p:nvPr/>
        </p:nvSpPr>
        <p:spPr>
          <a:xfrm>
            <a:off x="8092440" y="1828800"/>
            <a:ext cx="3383280" cy="502920"/>
          </a:xfrm>
          <a:prstGeom prst="rect">
            <a:avLst/>
          </a:prstGeom>
          <a:noFill/>
          <a:ln/>
        </p:spPr>
        <p:txBody>
          <a:bodyPr wrap="square" lIns="0" tIns="0" rIns="0" bIns="0" rtlCol="0" anchor="t"/>
          <a:lstStyle/>
          <a:p>
            <a:pPr marL="0" indent="0">
              <a:buNone/>
            </a:pPr>
            <a:r>
              <a:rPr lang="en-US" sz="1400" dirty="0">
                <a:solidFill>
                  <a:schemeClr val="bg1"/>
                </a:solidFill>
              </a:rPr>
              <a:t>입회원서를 제출하고 회비를 납부한 개인</a:t>
            </a:r>
            <a:endParaRPr lang="en-US" sz="1400" dirty="0"/>
          </a:p>
        </p:txBody>
      </p:sp>
      <p:sp>
        <p:nvSpPr>
          <p:cNvPr id="12" name="회원 카드 2"/>
          <p:cNvSpPr/>
          <p:nvPr/>
        </p:nvSpPr>
        <p:spPr>
          <a:xfrm>
            <a:off x="6949440" y="2606040"/>
            <a:ext cx="4693615" cy="1188720"/>
          </a:xfrm>
          <a:prstGeom prst="roundRect">
            <a:avLst>
              <a:gd name="adj" fmla="val 9231"/>
            </a:avLst>
          </a:prstGeom>
          <a:solidFill>
            <a:schemeClr val="tx2"/>
          </a:solidFill>
          <a:ln/>
        </p:spPr>
      </p:sp>
      <p:sp>
        <p:nvSpPr>
          <p:cNvPr id="13" name="학생회원 배경"/>
          <p:cNvSpPr/>
          <p:nvPr/>
        </p:nvSpPr>
        <p:spPr>
          <a:xfrm>
            <a:off x="7223760" y="2880360"/>
            <a:ext cx="640080" cy="640080"/>
          </a:xfrm>
          <a:prstGeom prst="ellipse">
            <a:avLst/>
          </a:prstGeom>
          <a:solidFill>
            <a:schemeClr val="accent1"/>
          </a:solidFill>
          <a:ln/>
        </p:spPr>
      </p:sp>
      <p:pic>
        <p:nvPicPr>
          <p:cNvPr id="14" name="학생회원 아이콘" descr="FaUserGraduate"/>
          <p:cNvPicPr>
            <a:picLocks noChangeAspect="1"/>
          </p:cNvPicPr>
          <p:nvPr/>
        </p:nvPicPr>
        <p:blipFill>
          <a:blip r:embed="rId4"/>
          <a:stretch>
            <a:fillRect/>
          </a:stretch>
        </p:blipFill>
        <p:spPr>
          <a:xfrm>
            <a:off x="7390181" y="3046781"/>
            <a:ext cx="307238" cy="307238"/>
          </a:xfrm>
          <a:prstGeom prst="rect">
            <a:avLst/>
          </a:prstGeom>
        </p:spPr>
      </p:pic>
      <p:sp>
        <p:nvSpPr>
          <p:cNvPr id="15" name="회원 유형 2"/>
          <p:cNvSpPr txBox="1"/>
          <p:nvPr/>
        </p:nvSpPr>
        <p:spPr>
          <a:xfrm>
            <a:off x="8092440" y="2788920"/>
            <a:ext cx="3383280" cy="365760"/>
          </a:xfrm>
          <a:prstGeom prst="rect">
            <a:avLst/>
          </a:prstGeom>
          <a:noFill/>
          <a:ln/>
        </p:spPr>
        <p:txBody>
          <a:bodyPr wrap="square" lIns="0" tIns="0" rIns="0" bIns="0" rtlCol="0" anchor="t"/>
          <a:lstStyle/>
          <a:p>
            <a:pPr marL="0" indent="0">
              <a:buNone/>
            </a:pPr>
            <a:r>
              <a:rPr lang="en-US" sz="1800" b="1" dirty="0">
                <a:solidFill>
                  <a:schemeClr val="bg1"/>
                </a:solidFill>
              </a:rPr>
              <a:t>학생회원</a:t>
            </a:r>
            <a:endParaRPr lang="en-US" sz="1800" dirty="0"/>
          </a:p>
        </p:txBody>
      </p:sp>
      <p:sp>
        <p:nvSpPr>
          <p:cNvPr id="16" name="회원 설명 2"/>
          <p:cNvSpPr txBox="1"/>
          <p:nvPr/>
        </p:nvSpPr>
        <p:spPr>
          <a:xfrm>
            <a:off x="8092440" y="3200400"/>
            <a:ext cx="3383280" cy="502920"/>
          </a:xfrm>
          <a:prstGeom prst="rect">
            <a:avLst/>
          </a:prstGeom>
          <a:noFill/>
          <a:ln/>
        </p:spPr>
        <p:txBody>
          <a:bodyPr wrap="square" lIns="0" tIns="0" rIns="0" bIns="0" rtlCol="0" anchor="t"/>
          <a:lstStyle/>
          <a:p>
            <a:pPr marL="0" indent="0">
              <a:buNone/>
            </a:pPr>
            <a:r>
              <a:rPr lang="en-US" sz="1400" dirty="0">
                <a:solidFill>
                  <a:schemeClr val="bg1"/>
                </a:solidFill>
              </a:rPr>
              <a:t>관련 분야 대학(원) 재학생</a:t>
            </a:r>
            <a:endParaRPr lang="en-US" sz="1400" dirty="0"/>
          </a:p>
        </p:txBody>
      </p:sp>
      <p:sp>
        <p:nvSpPr>
          <p:cNvPr id="17" name="회원 카드 3"/>
          <p:cNvSpPr/>
          <p:nvPr/>
        </p:nvSpPr>
        <p:spPr>
          <a:xfrm>
            <a:off x="6949440" y="3977640"/>
            <a:ext cx="4693615" cy="1188720"/>
          </a:xfrm>
          <a:prstGeom prst="roundRect">
            <a:avLst>
              <a:gd name="adj" fmla="val 9231"/>
            </a:avLst>
          </a:prstGeom>
          <a:solidFill>
            <a:schemeClr val="tx2"/>
          </a:solidFill>
          <a:ln/>
        </p:spPr>
      </p:sp>
      <p:sp>
        <p:nvSpPr>
          <p:cNvPr id="18" name="단체회원 배경"/>
          <p:cNvSpPr/>
          <p:nvPr/>
        </p:nvSpPr>
        <p:spPr>
          <a:xfrm>
            <a:off x="7223760" y="4251960"/>
            <a:ext cx="640080" cy="640080"/>
          </a:xfrm>
          <a:prstGeom prst="ellipse">
            <a:avLst/>
          </a:prstGeom>
          <a:solidFill>
            <a:schemeClr val="accent1"/>
          </a:solidFill>
          <a:ln/>
        </p:spPr>
      </p:sp>
      <p:pic>
        <p:nvPicPr>
          <p:cNvPr id="19" name="단체회원 아이콘" descr="FaBuilding"/>
          <p:cNvPicPr>
            <a:picLocks noChangeAspect="1"/>
          </p:cNvPicPr>
          <p:nvPr/>
        </p:nvPicPr>
        <p:blipFill>
          <a:blip r:embed="rId5"/>
          <a:stretch>
            <a:fillRect/>
          </a:stretch>
        </p:blipFill>
        <p:spPr>
          <a:xfrm>
            <a:off x="7390181" y="4418381"/>
            <a:ext cx="307238" cy="307238"/>
          </a:xfrm>
          <a:prstGeom prst="rect">
            <a:avLst/>
          </a:prstGeom>
        </p:spPr>
      </p:pic>
      <p:sp>
        <p:nvSpPr>
          <p:cNvPr id="20" name="회원 유형 3"/>
          <p:cNvSpPr txBox="1"/>
          <p:nvPr/>
        </p:nvSpPr>
        <p:spPr>
          <a:xfrm>
            <a:off x="8092440" y="4160520"/>
            <a:ext cx="3383280" cy="365760"/>
          </a:xfrm>
          <a:prstGeom prst="rect">
            <a:avLst/>
          </a:prstGeom>
          <a:noFill/>
          <a:ln/>
        </p:spPr>
        <p:txBody>
          <a:bodyPr wrap="square" lIns="0" tIns="0" rIns="0" bIns="0" rtlCol="0" anchor="t"/>
          <a:lstStyle/>
          <a:p>
            <a:pPr marL="0" indent="0">
              <a:buNone/>
            </a:pPr>
            <a:r>
              <a:rPr lang="en-US" sz="1800" b="1" dirty="0">
                <a:solidFill>
                  <a:schemeClr val="bg1"/>
                </a:solidFill>
              </a:rPr>
              <a:t>단체회원</a:t>
            </a:r>
            <a:endParaRPr lang="en-US" sz="1800" dirty="0"/>
          </a:p>
        </p:txBody>
      </p:sp>
      <p:sp>
        <p:nvSpPr>
          <p:cNvPr id="21" name="회원 설명 3"/>
          <p:cNvSpPr txBox="1"/>
          <p:nvPr/>
        </p:nvSpPr>
        <p:spPr>
          <a:xfrm>
            <a:off x="8092440" y="4572000"/>
            <a:ext cx="3383280" cy="502920"/>
          </a:xfrm>
          <a:prstGeom prst="rect">
            <a:avLst/>
          </a:prstGeom>
          <a:noFill/>
          <a:ln/>
        </p:spPr>
        <p:txBody>
          <a:bodyPr wrap="square" lIns="0" tIns="0" rIns="0" bIns="0" rtlCol="0" anchor="t"/>
          <a:lstStyle/>
          <a:p>
            <a:pPr marL="0" indent="0">
              <a:buNone/>
            </a:pPr>
            <a:r>
              <a:rPr lang="en-US" sz="1400" dirty="0">
                <a:solidFill>
                  <a:schemeClr val="bg1"/>
                </a:solidFill>
              </a:rPr>
              <a:t>학회 발전을 후원하는 단체·기업·기관</a:t>
            </a:r>
            <a:endParaRPr lang="en-US" sz="1400" dirty="0"/>
          </a:p>
        </p:txBody>
      </p:sp>
      <p:sp>
        <p:nvSpPr>
          <p:cNvPr id="22" name="가입 안내"/>
          <p:cNvSpPr txBox="1"/>
          <p:nvPr/>
        </p:nvSpPr>
        <p:spPr>
          <a:xfrm>
            <a:off x="6949440" y="5440680"/>
            <a:ext cx="4693615" cy="640080"/>
          </a:xfrm>
          <a:prstGeom prst="rect">
            <a:avLst/>
          </a:prstGeom>
          <a:noFill/>
          <a:ln/>
        </p:spPr>
        <p:txBody>
          <a:bodyPr wrap="square" lIns="0" tIns="0" rIns="0" bIns="0" rtlCol="0" anchor="t"/>
          <a:lstStyle/>
          <a:p>
            <a:pPr marL="0" indent="0">
              <a:buNone/>
            </a:pPr>
            <a:r>
              <a:rPr lang="en-US" sz="1300" dirty="0">
                <a:solidFill>
                  <a:schemeClr val="accent6"/>
                </a:solidFill>
              </a:rPr>
              <a:t>입회원서 제출 후 운영위원회 승인으로 가입합니다.</a:t>
            </a:r>
            <a:endParaRPr lang="en-US" sz="1300" dirty="0"/>
          </a:p>
          <a:p>
            <a:pPr marL="0" indent="0">
              <a:buNone/>
            </a:pPr>
            <a:r>
              <a:rPr lang="en-US" sz="1300" dirty="0">
                <a:solidFill>
                  <a:schemeClr val="accent6"/>
                </a:solidFill>
              </a:rPr>
              <a:t>의결권·선거권은 정회원과 단체회원에게 있습니다.</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3C8"/>
                </a:solidFill>
              </a:defRPr>
            </a:lvl1pPr>
          </a:lstStyle>
          <a:p>
            <a:pPr algn="r"/>
            <a:fld id="{F7021451-1387-4CA6-816F-3879F97B5CBC}" type="slidenum">
              <a:rPr lang="en-US" b="0"/>
              <a:t>15</a:t>
            </a:fld>
            <a:endParaRPr lang="en-US"/>
          </a:p>
        </p:txBody>
      </p:sp>
    </p:spTree>
  </p:cSld>
  <p:clrMapOvr>
    <a:masterClrMapping/>
  </p:clrMapOvr>
</p:sld>
</file>

<file path=ppt/theme/theme1.xml><?xml version="1.0" encoding="utf-8"?>
<a:theme xmlns:a="http://schemas.openxmlformats.org/drawingml/2006/main" name="KCST">
  <a:themeElements>
    <a:clrScheme name="KCST">
      <a:dk1>
        <a:srgbClr val="0F1A2B"/>
      </a:dk1>
      <a:lt1>
        <a:srgbClr val="FFFFFF"/>
      </a:lt1>
      <a:dk2>
        <a:srgbClr val="33475F"/>
      </a:dk2>
      <a:lt2>
        <a:srgbClr val="EEF3F8"/>
      </a:lt2>
      <a:accent1>
        <a:srgbClr val="008A76"/>
      </a:accent1>
      <a:accent2>
        <a:srgbClr val="FF2D6F"/>
      </a:accent2>
      <a:accent3>
        <a:srgbClr val="5B7C99"/>
      </a:accent3>
      <a:accent4>
        <a:srgbClr val="F2B01E"/>
      </a:accent4>
      <a:accent5>
        <a:srgbClr val="2FE0C4"/>
      </a:accent5>
      <a:accent6>
        <a:srgbClr val="9FB3C8"/>
      </a:accent6>
      <a:hlink>
        <a:srgbClr val="008A76"/>
      </a:hlink>
      <a:folHlink>
        <a:srgbClr val="5B7C99"/>
      </a:folHlink>
    </a:clrScheme>
    <a:fontScheme name="KCS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1932</Words>
  <Application>Microsoft Office PowerPoint</Application>
  <PresentationFormat>와이드스크린</PresentationFormat>
  <Paragraphs>278</Paragraphs>
  <Slides>15</Slides>
  <Notes>15</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15</vt:i4>
      </vt:variant>
    </vt:vector>
  </HeadingPairs>
  <TitlesOfParts>
    <vt:vector size="18" baseType="lpstr">
      <vt:lpstr>Malgun Gothic</vt:lpstr>
      <vt:lpstr>Arial</vt:lpstr>
      <vt:lpstr>KCST</vt:lpstr>
      <vt:lpstr>한국과학기술문화 소통학회</vt:lpstr>
      <vt:lpstr>한눈에 보는 KCST</vt:lpstr>
      <vt:lpstr>양적 팽창 이면의 빈칸</vt:lpstr>
      <vt:lpstr>KCST가 풀어야 할 5가지 과제</vt:lpstr>
      <vt:lpstr>현장이 먼저 말했습니다</vt:lpstr>
      <vt:lpstr>KCST의 목적과 정체성</vt:lpstr>
      <vt:lpstr>핵심 사업 방향 4가지</vt:lpstr>
      <vt:lpstr>정기 학술대회 6대 세션</vt:lpstr>
      <vt:lpstr>학회가 하는 일</vt:lpstr>
      <vt:lpstr>조직 구조</vt:lpstr>
      <vt:lpstr>운영위원회 6개 분과</vt:lpstr>
      <vt:lpstr>연간 운영 사이클</vt:lpstr>
      <vt:lpstr>2026 창립대회 · 11월 17–18일</vt:lpstr>
      <vt:lpstr>2031 세계대회까지의 로드맵</vt:lpstr>
      <vt:lpstr>함께 만드는 한국형 과학소통</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(사)한국과학기술문화소통학회(KCST) 소개</dc:title>
  <dc:subject>PptxGenJS Presentation</dc:subject>
  <dc:creator>KCST</dc:creator>
  <cp:lastModifiedBy>Seung-Hun Lee</cp:lastModifiedBy>
  <cp:revision>5</cp:revision>
  <dcterms:created xsi:type="dcterms:W3CDTF">2026-10-10T10:47:41Z</dcterms:created>
  <dcterms:modified xsi:type="dcterms:W3CDTF">2026-10-10T11:01:23Z</dcterms:modified>
</cp:coreProperties>
</file>